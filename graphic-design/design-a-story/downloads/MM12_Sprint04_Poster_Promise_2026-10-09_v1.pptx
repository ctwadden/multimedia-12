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bc4f75e6254e68" /><Relationship Type="http://schemas.openxmlformats.org/officeDocument/2006/relationships/extended-properties" Target="/docProps/app.xml" Id="R352a51906b984735" /><Relationship Type="http://schemas.openxmlformats.org/officeDocument/2006/relationships/officeDocument" Target="/ppt/presentation.xml" Id="R67c0b6de807c49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2f9bc010c54e46"/>
  </p:sldMasterIdLst>
  <p:notesMasterIdLst>
    <p:notesMasterId xmlns:r="http://schemas.openxmlformats.org/officeDocument/2006/relationships" r:id="Rf27cc69fa8b84723"/>
  </p:notesMasterIdLst>
  <p:sldIdLst>
    <p:sldId xmlns:r="http://schemas.openxmlformats.org/officeDocument/2006/relationships" id="256" r:id="Re504ba17b4594ff6"/>
    <p:sldId xmlns:r="http://schemas.openxmlformats.org/officeDocument/2006/relationships" id="257" r:id="R5aa6bab926a84787"/>
    <p:sldId xmlns:r="http://schemas.openxmlformats.org/officeDocument/2006/relationships" id="258" r:id="Rafe4a742849a45cb"/>
    <p:sldId xmlns:r="http://schemas.openxmlformats.org/officeDocument/2006/relationships" id="259" r:id="R512c632d8cd54ea9"/>
    <p:sldId xmlns:r="http://schemas.openxmlformats.org/officeDocument/2006/relationships" id="260" r:id="R566fd8c1f15f49b6"/>
    <p:sldId xmlns:r="http://schemas.openxmlformats.org/officeDocument/2006/relationships" id="261" r:id="R0c8327a49b50404f"/>
    <p:sldId xmlns:r="http://schemas.openxmlformats.org/officeDocument/2006/relationships" id="262" r:id="R66ef1334839449fc"/>
    <p:sldId xmlns:r="http://schemas.openxmlformats.org/officeDocument/2006/relationships" id="263" r:id="Ra47a667e7e454b64"/>
    <p:sldId xmlns:r="http://schemas.openxmlformats.org/officeDocument/2006/relationships" id="264" r:id="Rf37b1cc5bcc04586"/>
    <p:sldId xmlns:r="http://schemas.openxmlformats.org/officeDocument/2006/relationships" id="265" r:id="Rb3c0b1667e734f3a"/>
    <p:sldId xmlns:r="http://schemas.openxmlformats.org/officeDocument/2006/relationships" id="266" r:id="R37a947358c8c4deb"/>
    <p:sldId xmlns:r="http://schemas.openxmlformats.org/officeDocument/2006/relationships" id="267" r:id="R541143e22a254ec4"/>
    <p:sldId xmlns:r="http://schemas.openxmlformats.org/officeDocument/2006/relationships" id="268" r:id="R5dd45cccd33a48d4"/>
    <p:sldId xmlns:r="http://schemas.openxmlformats.org/officeDocument/2006/relationships" id="269" r:id="R251b6baa37c54e55"/>
    <p:sldId xmlns:r="http://schemas.openxmlformats.org/officeDocument/2006/relationships" id="270" r:id="Red97a48c35834afd"/>
    <p:sldId xmlns:r="http://schemas.openxmlformats.org/officeDocument/2006/relationships" id="271" r:id="R7811bbc244814253"/>
    <p:sldId xmlns:r="http://schemas.openxmlformats.org/officeDocument/2006/relationships" id="272" r:id="Rc777e9aa15d8459d"/>
    <p:sldId xmlns:r="http://schemas.openxmlformats.org/officeDocument/2006/relationships" id="273" r:id="Rd0eee9417e254f4d"/>
    <p:sldId xmlns:r="http://schemas.openxmlformats.org/officeDocument/2006/relationships" id="274" r:id="R13daaaca47434d6b"/>
    <p:sldId xmlns:r="http://schemas.openxmlformats.org/officeDocument/2006/relationships" id="275" r:id="R0523c7e08ebc4f4e"/>
    <p:sldId xmlns:r="http://schemas.openxmlformats.org/officeDocument/2006/relationships" id="276" r:id="R4a355d1c31624fe5"/>
    <p:sldId xmlns:r="http://schemas.openxmlformats.org/officeDocument/2006/relationships" id="277" r:id="R4de4d373866d4ee8"/>
    <p:sldId xmlns:r="http://schemas.openxmlformats.org/officeDocument/2006/relationships" id="278" r:id="Rfde1fa0087d04a09"/>
    <p:sldId xmlns:r="http://schemas.openxmlformats.org/officeDocument/2006/relationships" id="279" r:id="R0e91ddb6247841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4d7fedff7d4644" /><Relationship Type="http://schemas.openxmlformats.org/officeDocument/2006/relationships/slideMaster" Target="/ppt/slideMasters/slideMaster1.xml" Id="Ra62f9bc010c54e46" /><Relationship Type="http://schemas.openxmlformats.org/officeDocument/2006/relationships/notesMaster" Target="/ppt/notesMasters/notesMaster1.xml" Id="Rf27cc69fa8b84723" /><Relationship Type="http://schemas.openxmlformats.org/officeDocument/2006/relationships/presProps" Target="/ppt/presProps.xml" Id="R10b507b1559844f6" /><Relationship Type="http://schemas.openxmlformats.org/officeDocument/2006/relationships/tableStyles" Target="/ppt/tableStyles.xml" Id="R307e4829ea484ffd" /><Relationship Type="http://schemas.openxmlformats.org/officeDocument/2006/relationships/slide" Target="/ppt/slides/slide1.xml" Id="Re504ba17b4594ff6" /><Relationship Type="http://schemas.openxmlformats.org/officeDocument/2006/relationships/slide" Target="/ppt/slides/slide2.xml" Id="R5aa6bab926a84787" /><Relationship Type="http://schemas.openxmlformats.org/officeDocument/2006/relationships/slide" Target="/ppt/slides/slide3.xml" Id="Rafe4a742849a45cb" /><Relationship Type="http://schemas.openxmlformats.org/officeDocument/2006/relationships/slide" Target="/ppt/slides/slide4.xml" Id="R512c632d8cd54ea9" /><Relationship Type="http://schemas.openxmlformats.org/officeDocument/2006/relationships/slide" Target="/ppt/slides/slide5.xml" Id="R566fd8c1f15f49b6" /><Relationship Type="http://schemas.openxmlformats.org/officeDocument/2006/relationships/slide" Target="/ppt/slides/slide6.xml" Id="R0c8327a49b50404f" /><Relationship Type="http://schemas.openxmlformats.org/officeDocument/2006/relationships/slide" Target="/ppt/slides/slide7.xml" Id="R66ef1334839449fc" /><Relationship Type="http://schemas.openxmlformats.org/officeDocument/2006/relationships/slide" Target="/ppt/slides/slide8.xml" Id="Ra47a667e7e454b64" /><Relationship Type="http://schemas.openxmlformats.org/officeDocument/2006/relationships/slide" Target="/ppt/slides/slide9.xml" Id="Rf37b1cc5bcc04586" /><Relationship Type="http://schemas.openxmlformats.org/officeDocument/2006/relationships/slide" Target="/ppt/slides/slide10.xml" Id="Rb3c0b1667e734f3a" /><Relationship Type="http://schemas.openxmlformats.org/officeDocument/2006/relationships/slide" Target="/ppt/slides/slide11.xml" Id="R37a947358c8c4deb" /><Relationship Type="http://schemas.openxmlformats.org/officeDocument/2006/relationships/slide" Target="/ppt/slides/slide12.xml" Id="R541143e22a254ec4" /><Relationship Type="http://schemas.openxmlformats.org/officeDocument/2006/relationships/slide" Target="/ppt/slides/slide13.xml" Id="R5dd45cccd33a48d4" /><Relationship Type="http://schemas.openxmlformats.org/officeDocument/2006/relationships/slide" Target="/ppt/slides/slide14.xml" Id="R251b6baa37c54e55" /><Relationship Type="http://schemas.openxmlformats.org/officeDocument/2006/relationships/slide" Target="/ppt/slides/slide15.xml" Id="Red97a48c35834afd" /><Relationship Type="http://schemas.openxmlformats.org/officeDocument/2006/relationships/slide" Target="/ppt/slides/slide16.xml" Id="R7811bbc244814253" /><Relationship Type="http://schemas.openxmlformats.org/officeDocument/2006/relationships/slide" Target="/ppt/slides/slide17.xml" Id="Rc777e9aa15d8459d" /><Relationship Type="http://schemas.openxmlformats.org/officeDocument/2006/relationships/slide" Target="/ppt/slides/slide18.xml" Id="Rd0eee9417e254f4d" /><Relationship Type="http://schemas.openxmlformats.org/officeDocument/2006/relationships/slide" Target="/ppt/slides/slide19.xml" Id="R13daaaca47434d6b" /><Relationship Type="http://schemas.openxmlformats.org/officeDocument/2006/relationships/slide" Target="/ppt/slides/slide20.xml" Id="R0523c7e08ebc4f4e" /><Relationship Type="http://schemas.openxmlformats.org/officeDocument/2006/relationships/slide" Target="/ppt/slides/slide21.xml" Id="R4a355d1c31624fe5" /><Relationship Type="http://schemas.openxmlformats.org/officeDocument/2006/relationships/slide" Target="/ppt/slides/slide22.xml" Id="R4de4d373866d4ee8" /><Relationship Type="http://schemas.openxmlformats.org/officeDocument/2006/relationships/slide" Target="/ppt/slides/slide23.xml" Id="Rfde1fa0087d04a09" /><Relationship Type="http://schemas.openxmlformats.org/officeDocument/2006/relationships/slide" Target="/ppt/slides/slide24.xml" Id="R0e91ddb6247841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6e4ef92a5542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285ba8e1f74648" /><Relationship Type="http://schemas.openxmlformats.org/officeDocument/2006/relationships/notesMaster" Target="/ppt/notesMasters/notesMaster1.xml" Id="R640bc4716f8442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d5f0744a9a4b91" /><Relationship Type="http://schemas.openxmlformats.org/officeDocument/2006/relationships/notesMaster" Target="/ppt/notesMasters/notesMaster1.xml" Id="Rf144c288092a4f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2ee305fef94251" /><Relationship Type="http://schemas.openxmlformats.org/officeDocument/2006/relationships/notesMaster" Target="/ppt/notesMasters/notesMaster1.xml" Id="R0e41b65221e14c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6b84dd43824ad9" /><Relationship Type="http://schemas.openxmlformats.org/officeDocument/2006/relationships/notesMaster" Target="/ppt/notesMasters/notesMaster1.xml" Id="Ra7810a4b5fb84d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baafc833e44707" /><Relationship Type="http://schemas.openxmlformats.org/officeDocument/2006/relationships/notesMaster" Target="/ppt/notesMasters/notesMaster1.xml" Id="R3ab27683f1384e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76bf1447084a32" /><Relationship Type="http://schemas.openxmlformats.org/officeDocument/2006/relationships/notesMaster" Target="/ppt/notesMasters/notesMaster1.xml" Id="R45b5889f835b4f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d3c85d1dae4f1f" /><Relationship Type="http://schemas.openxmlformats.org/officeDocument/2006/relationships/notesMaster" Target="/ppt/notesMasters/notesMaster1.xml" Id="R96563d2159f84a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2f8f9823ab40ba" /><Relationship Type="http://schemas.openxmlformats.org/officeDocument/2006/relationships/notesMaster" Target="/ppt/notesMasters/notesMaster1.xml" Id="Rfcdec319eba841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f4bb5920b04d0a" /><Relationship Type="http://schemas.openxmlformats.org/officeDocument/2006/relationships/notesMaster" Target="/ppt/notesMasters/notesMaster1.xml" Id="Rc5eab6ddb98a47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d2e2c5ff064089" /><Relationship Type="http://schemas.openxmlformats.org/officeDocument/2006/relationships/notesMaster" Target="/ppt/notesMasters/notesMaster1.xml" Id="Rd12a4b86e8f243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b3a271eead4764" /><Relationship Type="http://schemas.openxmlformats.org/officeDocument/2006/relationships/notesMaster" Target="/ppt/notesMasters/notesMaster1.xml" Id="R988c7dada4564c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710acbea904e59" /><Relationship Type="http://schemas.openxmlformats.org/officeDocument/2006/relationships/notesMaster" Target="/ppt/notesMasters/notesMaster1.xml" Id="R3ed36d3ec62d47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4d39a6aac36480f" /><Relationship Type="http://schemas.openxmlformats.org/officeDocument/2006/relationships/notesMaster" Target="/ppt/notesMasters/notesMaster1.xml" Id="R3718b0d03bab4b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f648fd2c56a4592" /><Relationship Type="http://schemas.openxmlformats.org/officeDocument/2006/relationships/notesMaster" Target="/ppt/notesMasters/notesMaster1.xml" Id="Raa5eb82c82d243a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9773755ff894027" /><Relationship Type="http://schemas.openxmlformats.org/officeDocument/2006/relationships/notesMaster" Target="/ppt/notesMasters/notesMaster1.xml" Id="R5b08d5df31a0427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a25dd4d31a74b33" /><Relationship Type="http://schemas.openxmlformats.org/officeDocument/2006/relationships/notesMaster" Target="/ppt/notesMasters/notesMaster1.xml" Id="R84256cb7788845b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06e6089eed24b01" /><Relationship Type="http://schemas.openxmlformats.org/officeDocument/2006/relationships/notesMaster" Target="/ppt/notesMasters/notesMaster1.xml" Id="R50617df77f794f1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6ba784448da4b47" /><Relationship Type="http://schemas.openxmlformats.org/officeDocument/2006/relationships/notesMaster" Target="/ppt/notesMasters/notesMaster1.xml" Id="R6f2b8d25b5914a5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413e07970db40b4" /><Relationship Type="http://schemas.openxmlformats.org/officeDocument/2006/relationships/notesMaster" Target="/ppt/notesMasters/notesMaster1.xml" Id="Rf4548770b847419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fc9f46bcacd4ab5" /><Relationship Type="http://schemas.openxmlformats.org/officeDocument/2006/relationships/notesMaster" Target="/ppt/notesMasters/notesMaster1.xml" Id="Rbeb9e6c5eba040f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7354eba9cf24378" /><Relationship Type="http://schemas.openxmlformats.org/officeDocument/2006/relationships/notesMaster" Target="/ppt/notesMasters/notesMaster1.xml" Id="R3cbfe4a8fdab45f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f32373e394541fc" /><Relationship Type="http://schemas.openxmlformats.org/officeDocument/2006/relationships/notesMaster" Target="/ppt/notesMasters/notesMaster1.xml" Id="R31f0cc79b40c48c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cad159ed0d64466" /><Relationship Type="http://schemas.openxmlformats.org/officeDocument/2006/relationships/notesMaster" Target="/ppt/notesMasters/notesMaster1.xml" Id="Rc5cb1cc5d72c4cd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d2beebd203a4490" /><Relationship Type="http://schemas.openxmlformats.org/officeDocument/2006/relationships/notesMaster" Target="/ppt/notesMasters/notesMaster1.xml" Id="R6f82f4d080ac4c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art is a principal promotional image for a film. This real billboard shows a design operating at a large viewing scale. Study the image and title; you do not need to watch the film. Your own project will require an original premise, a justified design and tested revisions.</a:t>
            </a:r>
          </a:p>
          <a:p xmlns:a="http://schemas.openxmlformats.org/drawingml/2006/main">
            <a:r>
              <a:t>Ask: Without discussing first, write the first two things you noticed. Compare responses.</a:t>
            </a:r>
          </a:p>
          <a:p xmlns:a="http://schemas.openxmlformats.org/drawingml/2006/main">
            <a:r>
              <a:t>Watch for: A preference without visible evidence. Ask which feature supports the explanation.</a:t>
            </a:r>
          </a:p>
          <a:p xmlns:a="http://schemas.openxmlformats.org/drawingml/2006/main">
            <a:r>
              <a:t>Secure: change one viewing condition and justify an adaptation. Partial: compare two visible features, then revise. Unclear: define the uncertain term with this example, then retry on a different example.</a:t>
            </a:r>
          </a:p>
          <a:p xmlns:a="http://schemas.openxmlformats.org/drawingml/2006/main">
            <a:r>
              <a:t>Source: https://www.pentagram.com/work/billie</a:t>
            </a:r>
          </a:p>
          <a:p xmlns:a="http://schemas.openxmlformats.org/drawingml/2006/main">
            <a:r>
              <a:t>Independent assessment guidance is in the private teacher folder; no assessed solution is included here.</a:t>
            </a:r>
          </a:p>
          <a:p xmlns:a="http://schemas.openxmlformats.org/drawingml/2006/main">
            <a:r>
              <a:t>Student success check: Name a visible feature, use the term accurately and connect it to audience or purpose.</a:t>
            </a:r>
          </a:p>
          <a:p xmlns:a="http://schemas.openxmlformats.org/drawingml/2006/main">
            <a:r>
              <a:t>Time for selected activity: 2 minutes. Not every activity is run in one lesson.</a:t>
            </a:r>
          </a:p>
          <a:p xmlns:a="http://schemas.openxmlformats.org/drawingml/2006/main">
            <a:r>
              <a:t>Labelled practice feedback after an attempt: Different reading orders are possible. Point to size, position, contrast or subject matter; do not claim that one viewer response describes every audience.</a:t>
            </a:r>
          </a:p>
          <a:p xmlns:a="http://schemas.openxmlformats.org/drawingml/2006/main">
            <a:r>
              <a:t>Local slide locator: 01-poster-promise:1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corridor poster offers a different encounter from a phone image. In our worked example, a fictional community film night needs a readable title, a story cue and essential event details. The fictional example demonstrates reasoning, not an event that already exists.</a:t>
            </a:r>
          </a:p>
          <a:p xmlns:a="http://schemas.openxmlformats.org/drawingml/2006/main">
            <a:r>
              <a:t>Ask: For a school screening, write one sentence naming audience, purpose and viewing context.</a:t>
            </a:r>
          </a:p>
          <a:p xmlns:a="http://schemas.openxmlformats.org/drawingml/2006/main">
            <a:r>
              <a:t>Watch for: A preference without visible evidence. Ask which feature supports the explanation.</a:t>
            </a:r>
          </a:p>
          <a:p xmlns:a="http://schemas.openxmlformats.org/drawingml/2006/main">
            <a:r>
              <a:t>Secure: change one viewing condition and justify an adaptation. Partial: compare two visible features, then revise. Unclear: define the uncertain term with this example, then retry on a different example.</a:t>
            </a:r>
          </a:p>
          <a:p xmlns:a="http://schemas.openxmlformats.org/drawingml/2006/main">
            <a:r>
              <a:t>Source: </a:t>
            </a:r>
          </a:p>
          <a:p xmlns:a="http://schemas.openxmlformats.org/drawingml/2006/main">
            <a:r>
              <a:t>Independent assessment guidance is in the private teacher folder; no assessed solution is included here.</a:t>
            </a:r>
          </a:p>
          <a:p xmlns:a="http://schemas.openxmlformats.org/drawingml/2006/main">
            <a:r>
              <a:t>Student success check: A specific audience and encounter, a clear message and one checkable requirement.</a:t>
            </a:r>
          </a:p>
          <a:p xmlns:a="http://schemas.openxmlformats.org/drawingml/2006/main">
            <a:r>
              <a:t>Time for selected activity: 2 minutes. Not every activity is run in one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slide locator: 01-poster-promise:2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dark rectangle is an element. Enlarging it relative to the title can alter emphasis. A photograph can suggest three-dimensional form through light and shade. A visual texture may look rough even though the printed surface is smooth.</a:t>
            </a:r>
          </a:p>
          <a:p xmlns:a="http://schemas.openxmlformats.org/drawingml/2006/main">
            <a:r>
              <a:t>Ask: Name one element and one relationship you could change in a poster.</a:t>
            </a:r>
          </a:p>
          <a:p xmlns:a="http://schemas.openxmlformats.org/drawingml/2006/main">
            <a:r>
              <a:t>Watch for: A preference without visible evidence. Ask which feature supports the explanation.</a:t>
            </a:r>
          </a:p>
          <a:p xmlns:a="http://schemas.openxmlformats.org/drawingml/2006/main">
            <a:r>
              <a:t>Secure: change one viewing condition and justify an adaptation. Partial: compare two visible features, then revise. Unclear: define the uncertain term with this example, then retry on a different example.</a:t>
            </a:r>
          </a:p>
          <a:p xmlns:a="http://schemas.openxmlformats.org/drawingml/2006/main">
            <a:r>
              <a:t>Source: https://www.getty.edu/education/k-12-learning/describe-listen-draw/vocabulary-for-describing-an-artwork/</a:t>
            </a:r>
          </a:p>
          <a:p xmlns:a="http://schemas.openxmlformats.org/drawingml/2006/main">
            <a:r>
              <a:t>Independent assessment guidance is in the private teacher folder; no assessed solution is included here.</a:t>
            </a:r>
          </a:p>
          <a:p xmlns:a="http://schemas.openxmlformats.org/drawingml/2006/main">
            <a:r>
              <a:t>Student success check: Name a visible feature, use the term accurately and connect it to audience or purpose.</a:t>
            </a:r>
          </a:p>
          <a:p xmlns:a="http://schemas.openxmlformats.org/drawingml/2006/main">
            <a:r>
              <a:t>Time for selected activity: 2 minutes. Not every activity is run in one lesson.</a:t>
            </a:r>
          </a:p>
          <a:p xmlns:a="http://schemas.openxmlformats.org/drawingml/2006/main">
            <a:r>
              <a:t>Labelled practice feedback after an attempt: For example, a line is an element; repeating it at regular intervals can create rhythm. Explain the actual relationship.</a:t>
            </a:r>
          </a:p>
          <a:p xmlns:a="http://schemas.openxmlformats.org/drawingml/2006/main">
            <a:r>
              <a:t>Local slide locator: 01-poster-promise:3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original text-layout diagram keeps the words constant but changes their relative size. Reading order is a design intention that needs testing; it is not measured eye tracking. A huge title that hides the event details fails the brief.</a:t>
            </a:r>
          </a:p>
          <a:p xmlns:a="http://schemas.openxmlformats.org/drawingml/2006/main">
            <a:r>
              <a:t>Ask: Predict the first, second and third reading order in each version; then identify the trade-off.</a:t>
            </a:r>
          </a:p>
          <a:p xmlns:a="http://schemas.openxmlformats.org/drawingml/2006/main">
            <a:r>
              <a:t>Watch for: A preference without visible evidence. Ask which feature supports the explanation.</a:t>
            </a:r>
          </a:p>
          <a:p xmlns:a="http://schemas.openxmlformats.org/drawingml/2006/main">
            <a:r>
              <a:t>Secure: change one viewing condition and justify an adaptation. Partial: compare two visible features, then revise. Unclear: define the uncertain term with this example, then retry on a different example.</a:t>
            </a:r>
          </a:p>
          <a:p xmlns:a="http://schemas.openxmlformats.org/drawingml/2006/main">
            <a:r>
              <a:t>Source: </a:t>
            </a:r>
          </a:p>
          <a:p xmlns:a="http://schemas.openxmlformats.org/drawingml/2006/main">
            <a:r>
              <a:t>Independent assessment guidance is in the private teacher folder; no assessed solution is included here.</a:t>
            </a:r>
          </a:p>
          <a:p xmlns:a="http://schemas.openxmlformats.org/drawingml/2006/main">
            <a:r>
              <a:t>Student success check: Name a visible feature, use the term accurately and connect it to audience or purpose.</a:t>
            </a:r>
          </a:p>
          <a:p xmlns:a="http://schemas.openxmlformats.org/drawingml/2006/main">
            <a:r>
              <a:t>Time for selected activity: 2 minutes. Not every activity is run in one lesson.</a:t>
            </a:r>
          </a:p>
          <a:p xmlns:a="http://schemas.openxmlformats.org/drawingml/2006/main">
            <a:r>
              <a:t>Labelled practice feedback after an attempt: A dominant title can lead, followed by the purpose and event details. Required details must remain findable; larger is not automatically better.</a:t>
            </a:r>
          </a:p>
          <a:p xmlns:a="http://schemas.openxmlformats.org/drawingml/2006/main">
            <a:r>
              <a:t>Local slide locator: 01-poster-promise:4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the two schematic arrangements. Neither symmetry nor asymmetry guarantees an effective poster. Judge whether the visual weight supports the intended story and leaves room for information.</a:t>
            </a:r>
          </a:p>
          <a:p xmlns:a="http://schemas.openxmlformats.org/drawingml/2006/main">
            <a:r>
              <a:t>Ask: Describe one change that would balance a large subject without duplicating it.</a:t>
            </a:r>
          </a:p>
          <a:p xmlns:a="http://schemas.openxmlformats.org/drawingml/2006/main">
            <a:r>
              <a:t>Watch for: A preference without visible evidence. Ask which feature supports the explanation.</a:t>
            </a:r>
          </a:p>
          <a:p xmlns:a="http://schemas.openxmlformats.org/drawingml/2006/main">
            <a:r>
              <a:t>Secure: change one viewing condition and justify an adaptation. Partial: compare two visible features, then revise. Unclear: define the uncertain term with this example, then retry on a different example.</a:t>
            </a:r>
          </a:p>
          <a:p xmlns:a="http://schemas.openxmlformats.org/drawingml/2006/main">
            <a:r>
              <a:t>Source: https://www.getty.edu/education/k-12-learning/describe-listen-draw/vocabulary-for-describing-an-artwork/</a:t>
            </a:r>
          </a:p>
          <a:p xmlns:a="http://schemas.openxmlformats.org/drawingml/2006/main">
            <a:r>
              <a:t>Independent assessment guidance is in the private teacher folder; no assessed solution is included here.</a:t>
            </a:r>
          </a:p>
          <a:p xmlns:a="http://schemas.openxmlformats.org/drawingml/2006/main">
            <a:r>
              <a:t>Student success check: Name a visible feature, use the term accurately and connect it to audience or purpose.</a:t>
            </a:r>
          </a:p>
          <a:p xmlns:a="http://schemas.openxmlformats.org/drawingml/2006/main">
            <a:r>
              <a:t>Time for selected activity: 2 minutes. Not every activity is run in one lesson.</a:t>
            </a:r>
          </a:p>
          <a:p xmlns:a="http://schemas.openxmlformats.org/drawingml/2006/main">
            <a:r>
              <a:t>Labelled practice feedback after an attempt: A smaller strong-contrast title or counterweight may balance a larger quieter area. Explain position and visual weight, not a rule that both sides must match.</a:t>
            </a:r>
          </a:p>
          <a:p xmlns:a="http://schemas.openxmlformats.org/drawingml/2006/main">
            <a:r>
              <a:t>Local slide locator: 01-poster-promise:5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teaching diagram changes value contrast while keeping the wording constant. Hue differences alone may leave text difficult to read. Test the actual background beneath the title, including any photograph.</a:t>
            </a:r>
          </a:p>
          <a:p xmlns:a="http://schemas.openxmlformats.org/drawingml/2006/main">
            <a:r>
              <a:t>Ask: Identify which title is easier to read and explain the specific difference.</a:t>
            </a:r>
          </a:p>
          <a:p xmlns:a="http://schemas.openxmlformats.org/drawingml/2006/main">
            <a:r>
              <a:t>Watch for: A preference without visible evidence. Ask which feature supports the explanation.</a:t>
            </a:r>
          </a:p>
          <a:p xmlns:a="http://schemas.openxmlformats.org/drawingml/2006/main">
            <a:r>
              <a:t>Secure: change one viewing condition and justify an adaptation. Partial: compare two visible features, then revise. Unclear: define the uncertain term with this example, then retry on a different example.</a:t>
            </a:r>
          </a:p>
          <a:p xmlns:a="http://schemas.openxmlformats.org/drawingml/2006/main">
            <a:r>
              <a:t>Source: </a:t>
            </a:r>
          </a:p>
          <a:p xmlns:a="http://schemas.openxmlformats.org/drawingml/2006/main">
            <a:r>
              <a:t>Independent assessment guidance is in the private teacher folder; no assessed solution is included here.</a:t>
            </a:r>
          </a:p>
          <a:p xmlns:a="http://schemas.openxmlformats.org/drawingml/2006/main">
            <a:r>
              <a:t>Student success check: Name a visible feature, use the term accurately and connect it to audience or purpose.</a:t>
            </a:r>
          </a:p>
          <a:p xmlns:a="http://schemas.openxmlformats.org/drawingml/2006/main">
            <a:r>
              <a:t>Time for selected activity: 2 minutes. Not every activity is run in one lesson.</a:t>
            </a:r>
          </a:p>
          <a:p xmlns:a="http://schemas.openxmlformats.org/drawingml/2006/main">
            <a:r>
              <a:t>Labelled practice feedback after an attempt: The relative lightness of title and background matters. Naming complementary hues does not establish legibility.</a:t>
            </a:r>
          </a:p>
          <a:p xmlns:a="http://schemas.openxmlformats.org/drawingml/2006/main">
            <a:r>
              <a:t>Local slide locator: 01-poster-promise:6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original notice diagram separates its title, event description and practical details. A shared edge helps structure the reading. The gaps establish groups. Centring everything is a choice to test, not a universal design rule.</a:t>
            </a:r>
          </a:p>
          <a:p xmlns:a="http://schemas.openxmlformats.org/drawingml/2006/main">
            <a:r>
              <a:t>Ask: Sketch a revised notice with one shared edge and two clear information groups.</a:t>
            </a:r>
          </a:p>
          <a:p xmlns:a="http://schemas.openxmlformats.org/drawingml/2006/main">
            <a:r>
              <a:t>Watch for: A preference without visible evidence. Ask which feature supports the explanation.</a:t>
            </a:r>
          </a:p>
          <a:p xmlns:a="http://schemas.openxmlformats.org/drawingml/2006/main">
            <a:r>
              <a:t>Secure: change one viewing condition and justify an adaptation. Partial: compare two visible features, then revise. Unclear: define the uncertain term with this example, then retry on a different example.</a:t>
            </a:r>
          </a:p>
          <a:p xmlns:a="http://schemas.openxmlformats.org/drawingml/2006/main">
            <a:r>
              <a:t>Source: </a:t>
            </a:r>
          </a:p>
          <a:p xmlns:a="http://schemas.openxmlformats.org/drawingml/2006/main">
            <a:r>
              <a:t>Independent assessment guidance is in the private teacher folder; no assessed solution is included here.</a:t>
            </a:r>
          </a:p>
          <a:p xmlns:a="http://schemas.openxmlformats.org/drawingml/2006/main">
            <a:r>
              <a:t>Student success check: Name a visible feature, use the term accurately and connect it to audience or purpose.</a:t>
            </a:r>
          </a:p>
          <a:p xmlns:a="http://schemas.openxmlformats.org/drawingml/2006/main">
            <a:r>
              <a:t>Time for selected activity: 2 minutes. Not every activity is run in one lesson.</a:t>
            </a:r>
          </a:p>
          <a:p xmlns:a="http://schemas.openxmlformats.org/drawingml/2006/main">
            <a:r>
              <a:t>Labelled practice feedback after an attempt: Explain which items belong together and show a larger gap between groups than within a group.</a:t>
            </a:r>
          </a:p>
          <a:p xmlns:a="http://schemas.openxmlformats.org/drawingml/2006/main">
            <a:r>
              <a:t>Local slide locator: 01-poster-promise:7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Repeated type roles and intervals can guide a reader. Variation in size or spacing changes the pace. The diagram models relationships; it does not claim that every viewer follows an identical path.</a:t>
            </a:r>
          </a:p>
          <a:p xmlns:a="http://schemas.openxmlformats.org/drawingml/2006/main">
            <a:r>
              <a:t>Ask: Choose one feature to repeat in a poster and one feature that should differ. Explain both jobs.</a:t>
            </a:r>
          </a:p>
          <a:p xmlns:a="http://schemas.openxmlformats.org/drawingml/2006/main">
            <a:r>
              <a:t>Watch for: A preference without visible evidence. Ask which feature supports the explanation.</a:t>
            </a:r>
          </a:p>
          <a:p xmlns:a="http://schemas.openxmlformats.org/drawingml/2006/main">
            <a:r>
              <a:t>Secure: change one viewing condition and justify an adaptation. Partial: compare two visible features, then revise. Unclear: define the uncertain term with this example, then retry on a different example.</a:t>
            </a:r>
          </a:p>
          <a:p xmlns:a="http://schemas.openxmlformats.org/drawingml/2006/main">
            <a:r>
              <a:t>Source: https://www.getty.edu/education/k-12-learning/describe-listen-draw/vocabulary-for-describing-an-artwork/</a:t>
            </a:r>
          </a:p>
          <a:p xmlns:a="http://schemas.openxmlformats.org/drawingml/2006/main">
            <a:r>
              <a:t>Independent assessment guidance is in the private teacher folder; no assessed solution is included here.</a:t>
            </a:r>
          </a:p>
          <a:p xmlns:a="http://schemas.openxmlformats.org/drawingml/2006/main">
            <a:r>
              <a:t>Student success check: Name a visible feature, use the term accurately and connect it to audience or purpose.</a:t>
            </a:r>
          </a:p>
          <a:p xmlns:a="http://schemas.openxmlformats.org/drawingml/2006/main">
            <a:r>
              <a:t>Time for selected activity: 2 minutes. Not every activity is run in one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slide locator: 01-poster-promise:8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Saul Bass designed this 1955 poster for The Man with the Golden Arm. Observe the simplified arm, irregular blocks and spare areas. The graphic form gives a point of comparison with photographic key art. Any account of tension is our interpretation; the museum record establishes artist, title, date and medium.</a:t>
            </a:r>
          </a:p>
          <a:p xmlns:a="http://schemas.openxmlformats.org/drawingml/2006/main">
            <a:r>
              <a:t>Ask: Point to a shape and an empty area. Explain how they affect the image without inventing designer intent.</a:t>
            </a:r>
          </a:p>
          <a:p xmlns:a="http://schemas.openxmlformats.org/drawingml/2006/main">
            <a:r>
              <a:t>Watch for: A preference without visible evidence. Ask which feature supports the explanation.</a:t>
            </a:r>
          </a:p>
          <a:p xmlns:a="http://schemas.openxmlformats.org/drawingml/2006/main">
            <a:r>
              <a:t>Secure: change one viewing condition and justify an adaptation. Partial: compare two visible features, then revise. Unclear: define the uncertain term with this example, then retry on a different example.</a:t>
            </a:r>
          </a:p>
          <a:p xmlns:a="http://schemas.openxmlformats.org/drawingml/2006/main">
            <a:r>
              <a:t>Source: https://www.moma.org/collection/works/5665</a:t>
            </a:r>
          </a:p>
          <a:p xmlns:a="http://schemas.openxmlformats.org/drawingml/2006/main">
            <a:r>
              <a:t>Independent assessment guidance is in the private teacher folder; no assessed solution is included here.</a:t>
            </a:r>
          </a:p>
          <a:p xmlns:a="http://schemas.openxmlformats.org/drawingml/2006/main">
            <a:r>
              <a:t>Student success check: Name a visible feature, use the term accurately and connect it to audience or purpose.</a:t>
            </a:r>
          </a:p>
          <a:p xmlns:a="http://schemas.openxmlformats.org/drawingml/2006/main">
            <a:r>
              <a:t>Time for selected activity: 2 minutes. Not every activity is run in one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slide locator: 01-poster-promise:9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Cossette’s 2018 Follow the Arches campaign uses cropped sections of McDonald’s arches as wayfinding. The source identifies the campaign. We can examine form and likely recognition demands; this photograph does not measure a driver’s response or campaign effectiveness.</a:t>
            </a:r>
          </a:p>
          <a:p xmlns:a="http://schemas.openxmlformats.org/drawingml/2006/main">
            <a:r>
              <a:t>Ask: Individual check: identify two principles and one audience limitation.</a:t>
            </a:r>
          </a:p>
          <a:p xmlns:a="http://schemas.openxmlformats.org/drawingml/2006/main">
            <a:r>
              <a:t>Watch for: A preference without visible evidence. Ask which feature supports the explanation.</a:t>
            </a:r>
          </a:p>
          <a:p xmlns:a="http://schemas.openxmlformats.org/drawingml/2006/main">
            <a:r>
              <a:t>Secure: change one viewing condition and justify an adaptation. Partial: compare two visible features, then revise. Unclear: define the uncertain term with this example, then retry on a different example.</a:t>
            </a:r>
          </a:p>
          <a:p xmlns:a="http://schemas.openxmlformats.org/drawingml/2006/main">
            <a:r>
              <a:t>Source: https://www.cossette.com/en/blog/__temp_axdccudsbhhoymknkaqplbxaujyfvicbzotm</a:t>
            </a:r>
          </a:p>
          <a:p xmlns:a="http://schemas.openxmlformats.org/drawingml/2006/main">
            <a:r>
              <a:t>Independent assessment guidance is in the private teacher folder; no assessed solution is included here.</a:t>
            </a:r>
          </a:p>
          <a:p xmlns:a="http://schemas.openxmlformats.org/drawingml/2006/main">
            <a:r>
              <a:t>Student success check: Name a visible feature, use the term accurately and connect it to audience or purpose.</a:t>
            </a:r>
          </a:p>
          <a:p xmlns:a="http://schemas.openxmlformats.org/drawingml/2006/main">
            <a:r>
              <a:t>Time for selected activity: 2 minutes. Not every activity is run in one lesson.</a:t>
            </a:r>
          </a:p>
          <a:p xmlns:a="http://schemas.openxmlformats.org/drawingml/2006/main">
            <a:r>
              <a:t>Labelled practice feedback after an attempt: Contrast and emphasis help the symbol stand out; the crop and placement suggest direction. A viewer unfamiliar with the brand may interpret it differently.</a:t>
            </a:r>
          </a:p>
          <a:p xmlns:a="http://schemas.openxmlformats.org/drawingml/2006/main">
            <a:r>
              <a:t>Local slide locator: 01-poster-promise:10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RYB relationships and RGB light relationships are not identical. Red and green sit opposite in the named RYB teaching wheel; red and cyan are complementary in an RGB model. RGB storage alone does not tell you which geometry a palette tool uses.</a:t>
            </a:r>
          </a:p>
          <a:p xmlns:a="http://schemas.openxmlformats.org/drawingml/2006/main">
            <a:r>
              <a:t>Ask: Which model does our artist’s wheel use, and which mode is the screen image stored in?</a:t>
            </a:r>
          </a:p>
          <a:p xmlns:a="http://schemas.openxmlformats.org/drawingml/2006/main">
            <a:r>
              <a:t>Watch for: A preference without visible evidence. Ask which feature supports the explanation.</a:t>
            </a:r>
          </a:p>
          <a:p xmlns:a="http://schemas.openxmlformats.org/drawingml/2006/main">
            <a:r>
              <a:t>Secure: change one viewing condition and justify an adaptation. Partial: compare two visible features, then revise. Unclear: define the uncertain term with this example, then retry on a different example.</a:t>
            </a:r>
          </a:p>
          <a:p xmlns:a="http://schemas.openxmlformats.org/drawingml/2006/main">
            <a:r>
              <a:t>Source: https://www.adobe.com/express/learn/blog/color-wheel-explained</a:t>
            </a:r>
          </a:p>
          <a:p xmlns:a="http://schemas.openxmlformats.org/drawingml/2006/main">
            <a:r>
              <a:t>Independent assessment guidance is in the private teacher folder; no assessed solution is included here.</a:t>
            </a:r>
          </a:p>
          <a:p xmlns:a="http://schemas.openxmlformats.org/drawingml/2006/main">
            <a:r>
              <a:t>Student success check: Name a visible feature, use the term accurately and connect it to audience or purpose.</a:t>
            </a:r>
          </a:p>
          <a:p xmlns:a="http://schemas.openxmlformats.org/drawingml/2006/main">
            <a:r>
              <a:t>Time for selected activity: 2 minutes. Not every activity is run in one lesson.</a:t>
            </a:r>
          </a:p>
          <a:p xmlns:a="http://schemas.openxmlformats.org/drawingml/2006/main">
            <a:r>
              <a:t>Labelled practice feedback after an attempt: The teaching wheel is RYB; our digital screen image is RGB. Do not transfer a named complement across models without checking.</a:t>
            </a:r>
          </a:p>
          <a:p xmlns:a="http://schemas.openxmlformats.org/drawingml/2006/main">
            <a:r>
              <a:t>Local slide locator: 01-poster-promise:11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editable diagram places twelve named hue families at equal schematic intervals. The RGB display samples illustrate an RYB arrangement; they are not a physical pigment-mixing experiment. Locate blue and orange opposite each other. Locate blue, blue-green and green as neighbours.</a:t>
            </a:r>
          </a:p>
          <a:p xmlns:a="http://schemas.openxmlformats.org/drawingml/2006/main">
            <a:r>
              <a:t>Ask: Find an opposite pair and a neighbouring group. Name the model.</a:t>
            </a:r>
          </a:p>
          <a:p xmlns:a="http://schemas.openxmlformats.org/drawingml/2006/main">
            <a:r>
              <a:t>Watch for: A preference without visible evidence. Ask which feature supports the explanation.</a:t>
            </a:r>
          </a:p>
          <a:p xmlns:a="http://schemas.openxmlformats.org/drawingml/2006/main">
            <a:r>
              <a:t>Secure: change one viewing condition and justify an adaptation. Partial: compare two visible features, then revise. Unclear: define the uncertain term with this example, then retry on a different example.</a:t>
            </a:r>
          </a:p>
          <a:p xmlns:a="http://schemas.openxmlformats.org/drawingml/2006/main">
            <a:r>
              <a:t>Source: https://www.adobe.com/express/learn/blog/color-wheel-explained</a:t>
            </a:r>
          </a:p>
          <a:p xmlns:a="http://schemas.openxmlformats.org/drawingml/2006/main">
            <a:r>
              <a:t>Independent assessment guidance is in the private teacher folder; no assessed solution is included here.</a:t>
            </a:r>
          </a:p>
          <a:p xmlns:a="http://schemas.openxmlformats.org/drawingml/2006/main">
            <a:r>
              <a:t>Student success check: Name a visible feature, use the term accurately and connect it to audience or purpose.</a:t>
            </a:r>
          </a:p>
          <a:p xmlns:a="http://schemas.openxmlformats.org/drawingml/2006/main">
            <a:r>
              <a:t>Time for selected activity: 2 minutes. Not every activity is run in one lesson.</a:t>
            </a:r>
          </a:p>
          <a:p xmlns:a="http://schemas.openxmlformats.org/drawingml/2006/main">
            <a:r>
              <a:t>Labelled practice feedback after an attempt: Blue/orange are an opposite pair on this RYB wheel; blue/blue-green/green are neighbours.</a:t>
            </a:r>
          </a:p>
          <a:p xmlns:a="http://schemas.openxmlformats.org/drawingml/2006/main">
            <a:r>
              <a:t>Local slide locator: 01-poster-promise:12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samples isolate hue, then lightness, then intensity. In a poster, a muted background can support a more saturated accent. A palette with several hues but similar values may still produce weak title contrast.</a:t>
            </a:r>
          </a:p>
          <a:p xmlns:a="http://schemas.openxmlformats.org/drawingml/2006/main">
            <a:r>
              <a:t>Ask: Keep the hue family and change a property that could improve title visibility.</a:t>
            </a:r>
          </a:p>
          <a:p xmlns:a="http://schemas.openxmlformats.org/drawingml/2006/main">
            <a:r>
              <a:t>Watch for: A preference without visible evidence. Ask which feature supports the explanation.</a:t>
            </a:r>
          </a:p>
          <a:p xmlns:a="http://schemas.openxmlformats.org/drawingml/2006/main">
            <a:r>
              <a:t>Secure: change one viewing condition and justify an adaptation. Partial: compare two visible features, then revise. Unclear: define the uncertain term with this example, then retry on a different example.</a:t>
            </a:r>
          </a:p>
          <a:p xmlns:a="http://schemas.openxmlformats.org/drawingml/2006/main">
            <a:r>
              <a:t>Source: https://www.adobe.com/express/learn/blog/color-wheel-explained</a:t>
            </a:r>
          </a:p>
          <a:p xmlns:a="http://schemas.openxmlformats.org/drawingml/2006/main">
            <a:r>
              <a:t>Independent assessment guidance is in the private teacher folder; no assessed solution is included here.</a:t>
            </a:r>
          </a:p>
          <a:p xmlns:a="http://schemas.openxmlformats.org/drawingml/2006/main">
            <a:r>
              <a:t>Student success check: Name a visible feature, use the term accurately and connect it to audience or purpose.</a:t>
            </a:r>
          </a:p>
          <a:p xmlns:a="http://schemas.openxmlformats.org/drawingml/2006/main">
            <a:r>
              <a:t>Time for selected activity: 2 minutes. Not every activity is run in one lesson.</a:t>
            </a:r>
          </a:p>
          <a:p xmlns:a="http://schemas.openxmlformats.org/drawingml/2006/main">
            <a:r>
              <a:t>Labelled practice feedback after an attempt: Change relative value, or reduce the background’s intensity where it competes. Check the actual image, not just the wheel.</a:t>
            </a:r>
          </a:p>
          <a:p xmlns:a="http://schemas.openxmlformats.org/drawingml/2006/main">
            <a:r>
              <a:t>Local slide locator: 01-poster-promise:13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samples represent hue families in the same RYB teaching model. Exact display colours are teaching approximations. Neutral colours and unequal proportions are useful; an entire poster need not be divided equally among its hues.</a:t>
            </a:r>
          </a:p>
          <a:p xmlns:a="http://schemas.openxmlformats.org/drawingml/2006/main">
            <a:r>
              <a:t>Ask: Choose two different starting relationships for one story premise. Explain what you would test.</a:t>
            </a:r>
          </a:p>
          <a:p xmlns:a="http://schemas.openxmlformats.org/drawingml/2006/main">
            <a:r>
              <a:t>Watch for: A preference without visible evidence. Ask which feature supports the explanation.</a:t>
            </a:r>
          </a:p>
          <a:p xmlns:a="http://schemas.openxmlformats.org/drawingml/2006/main">
            <a:r>
              <a:t>Secure: change one viewing condition and justify an adaptation. Partial: compare two visible features, then revise. Unclear: define the uncertain term with this example, then retry on a different example.</a:t>
            </a:r>
          </a:p>
          <a:p xmlns:a="http://schemas.openxmlformats.org/drawingml/2006/main">
            <a:r>
              <a:t>Source: https://www.adobe.com/express/learn/blog/color-wheel-explained</a:t>
            </a:r>
          </a:p>
          <a:p xmlns:a="http://schemas.openxmlformats.org/drawingml/2006/main">
            <a:r>
              <a:t>Independent assessment guidance is in the private teacher folder; no assessed solution is included here.</a:t>
            </a:r>
          </a:p>
          <a:p xmlns:a="http://schemas.openxmlformats.org/drawingml/2006/main">
            <a:r>
              <a:t>Student success check: Name a visible feature, use the term accurately and connect it to audience or purpose.</a:t>
            </a:r>
          </a:p>
          <a:p xmlns:a="http://schemas.openxmlformats.org/drawingml/2006/main">
            <a:r>
              <a:t>Time for selected activity: 2 minutes. Not every activity is run in one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slide locator: 01-poster-promise:14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original five-colour palette assigns jobs to its samples. Five swatches are a manageable teaching constraint, not a universal industry rule. An accent should be considered in relation to its area and surrounding values; equal swatch sizes do not prescribe equal usage.</a:t>
            </a:r>
          </a:p>
          <a:p xmlns:a="http://schemas.openxmlformats.org/drawingml/2006/main">
            <a:r>
              <a:t>Ask: Give five colours roles. Name which one you would use least and why.</a:t>
            </a:r>
          </a:p>
          <a:p xmlns:a="http://schemas.openxmlformats.org/drawingml/2006/main">
            <a:r>
              <a:t>Watch for: A preference without visible evidence. Ask which feature supports the explanation.</a:t>
            </a:r>
          </a:p>
          <a:p xmlns:a="http://schemas.openxmlformats.org/drawingml/2006/main">
            <a:r>
              <a:t>Secure: change one viewing condition and justify an adaptation. Partial: compare two visible features, then revise. Unclear: define the uncertain term with this example, then retry on a different example.</a:t>
            </a:r>
          </a:p>
          <a:p xmlns:a="http://schemas.openxmlformats.org/drawingml/2006/main">
            <a:r>
              <a:t>Source: </a:t>
            </a:r>
          </a:p>
          <a:p xmlns:a="http://schemas.openxmlformats.org/drawingml/2006/main">
            <a:r>
              <a:t>Independent assessment guidance is in the private teacher folder; no assessed solution is included here.</a:t>
            </a:r>
          </a:p>
          <a:p xmlns:a="http://schemas.openxmlformats.org/drawingml/2006/main">
            <a:r>
              <a:t>Student success check: Roles fit the audience and message; the proposed text/background pair is tested.</a:t>
            </a:r>
          </a:p>
          <a:p xmlns:a="http://schemas.openxmlformats.org/drawingml/2006/main">
            <a:r>
              <a:t>Time for selected activity: 2 minutes. Not every activity is run in one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slide locator: 01-poster-promise:15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Pentagram describes the pink title and reversed-out gun in BILLIE as balancing innocence and latent brutality. That is documented designer intent. Ask what features support or complicate the reading. The film’s themes and promotional context matter; pink does not have one fixed meaning for every audience.</a:t>
            </a:r>
          </a:p>
          <a:p xmlns:a="http://schemas.openxmlformats.org/drawingml/2006/main">
            <a:r>
              <a:t>Ask: Separate one visible observation, the documented intention and your interpretation.</a:t>
            </a:r>
          </a:p>
          <a:p xmlns:a="http://schemas.openxmlformats.org/drawingml/2006/main">
            <a:r>
              <a:t>Watch for: A preference without visible evidence. Ask which feature supports the explanation.</a:t>
            </a:r>
          </a:p>
          <a:p xmlns:a="http://schemas.openxmlformats.org/drawingml/2006/main">
            <a:r>
              <a:t>Secure: change one viewing condition and justify an adaptation. Partial: compare two visible features, then revise. Unclear: define the uncertain term with this example, then retry on a different example.</a:t>
            </a:r>
          </a:p>
          <a:p xmlns:a="http://schemas.openxmlformats.org/drawingml/2006/main">
            <a:r>
              <a:t>Source: https://www.pentagram.com/work/billie</a:t>
            </a:r>
          </a:p>
          <a:p xmlns:a="http://schemas.openxmlformats.org/drawingml/2006/main">
            <a:r>
              <a:t>Independent assessment guidance is in the private teacher folder; no assessed solution is included here.</a:t>
            </a:r>
          </a:p>
          <a:p xmlns:a="http://schemas.openxmlformats.org/drawingml/2006/main">
            <a:r>
              <a:t>Student success check: Name a visible feature, use the term accurately and connect it to audience or purpose.</a:t>
            </a:r>
          </a:p>
          <a:p xmlns:a="http://schemas.openxmlformats.org/drawingml/2006/main">
            <a:r>
              <a:t>Time for selected activity: 2 minutes. Not every activity is run in one lesson.</a:t>
            </a:r>
          </a:p>
          <a:p xmlns:a="http://schemas.openxmlformats.org/drawingml/2006/main">
            <a:r>
              <a:t>Labelled practice feedback after an attempt: An observation describes the pink lettering or the shape. The source supplies intention. Your explanation of its likely effect remains an interpretation.</a:t>
            </a:r>
          </a:p>
          <a:p xmlns:a="http://schemas.openxmlformats.org/drawingml/2006/main">
            <a:r>
              <a:t>Local slide locator: 01-poster-promise:16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Adobe Color is the professional browser companion. Adobe documents loading CSS colours into Swatches, and adding a named swatch from the foreground colour. Our linked handoff card gives both routes and a manual fallback. The actual CSS import has not been verified in this app build; use the documented manual route if the file filter is unavailable.</a:t>
            </a:r>
          </a:p>
          <a:p xmlns:a="http://schemas.openxmlformats.org/drawingml/2006/main">
            <a:r>
              <a:t>Ask: Export or record your five chosen values; apply two to a title/background comparison.</a:t>
            </a:r>
          </a:p>
          <a:p xmlns:a="http://schemas.openxmlformats.org/drawingml/2006/main">
            <a:r>
              <a:t>Watch for: A palette screenshot is not a reliable source for exact colour values; do not replace the student’s existing swatch collection.</a:t>
            </a:r>
          </a:p>
          <a:p xmlns:a="http://schemas.openxmlformats.org/drawingml/2006/main">
            <a:r>
              <a:t>Secure: change one viewing condition and justify an adaptation. Partial: compare two visible features, then revise. Unclear: define the uncertain term with this example, then retry on a different example.</a:t>
            </a:r>
          </a:p>
          <a:p xmlns:a="http://schemas.openxmlformats.org/drawingml/2006/main">
            <a:r>
              <a:t>Source: https://helpx.adobe.com/photoshop/desktop/adjust-color/choose-colors/manage-color-swatches-and-swatch-libraries.html</a:t>
            </a:r>
          </a:p>
          <a:p xmlns:a="http://schemas.openxmlformats.org/drawingml/2006/main">
            <a:r>
              <a:t>Independent assessment guidance is in the private teacher folder; no assessed solution is included here.</a:t>
            </a:r>
          </a:p>
          <a:p xmlns:a="http://schemas.openxmlformats.org/drawingml/2006/main">
            <a:r>
              <a:t>Student success check: The production colours match the recorded values and the title remains readable.</a:t>
            </a:r>
          </a:p>
          <a:p xmlns:a="http://schemas.openxmlformats.org/drawingml/2006/main">
            <a:r>
              <a:t>Time for selected activity: 2 minutes. Not every activity is run in one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slide locator: 01-poster-promise:17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BILLIE wordmark makes typography carry both the name and a visual symbol. In your poster, decide the role of title, supporting line and practical details. A display treatment may suit a short title while another treatment is needed for smaller information.</a:t>
            </a:r>
          </a:p>
          <a:p xmlns:a="http://schemas.openxmlformats.org/drawingml/2006/main">
            <a:r>
              <a:t>Ask: Choose a title role and a supporting-information role; explain why they differ.</a:t>
            </a:r>
          </a:p>
          <a:p xmlns:a="http://schemas.openxmlformats.org/drawingml/2006/main">
            <a:r>
              <a:t>Watch for: A preference without visible evidence. Ask which feature supports the explanation.</a:t>
            </a:r>
          </a:p>
          <a:p xmlns:a="http://schemas.openxmlformats.org/drawingml/2006/main">
            <a:r>
              <a:t>Secure: change one viewing condition and justify an adaptation. Partial: compare two visible features, then revise. Unclear: define the uncertain term with this example, then retry on a different example.</a:t>
            </a:r>
          </a:p>
          <a:p xmlns:a="http://schemas.openxmlformats.org/drawingml/2006/main">
            <a:r>
              <a:t>Source: https://www.pentagram.com/work/billie</a:t>
            </a:r>
          </a:p>
          <a:p xmlns:a="http://schemas.openxmlformats.org/drawingml/2006/main">
            <a:r>
              <a:t>Independent assessment guidance is in the private teacher folder; no assessed solution is included here.</a:t>
            </a:r>
          </a:p>
          <a:p xmlns:a="http://schemas.openxmlformats.org/drawingml/2006/main">
            <a:r>
              <a:t>Student success check: Name a visible feature, use the term accurately and connect it to audience or purpose.</a:t>
            </a:r>
          </a:p>
          <a:p xmlns:a="http://schemas.openxmlformats.org/drawingml/2006/main">
            <a:r>
              <a:t>Time for selected activity: 2 minutes. Not every activity is run in one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slide locator: 01-poster-promise:18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AV diagram isolates one pair. The tracked word diagram changes gaps across a run. In Photoshop, place the insertion point between two characters for pair kerning; select the characters for tracking. Metrics and Optical are different automatic approaches; this diagram does not reproduce Photoshop’s font engine.</a:t>
            </a:r>
          </a:p>
          <a:p xmlns:a="http://schemas.openxmlformats.org/drawingml/2006/main">
            <a:r>
              <a:t>Ask: A gap between A and V is awkward, but the rest of the title is fine. Which control and selection are appropriate?</a:t>
            </a:r>
          </a:p>
          <a:p xmlns:a="http://schemas.openxmlformats.org/drawingml/2006/main">
            <a:r>
              <a:t>Watch for: A preference without visible evidence. Ask which feature supports the explanation.</a:t>
            </a:r>
          </a:p>
          <a:p xmlns:a="http://schemas.openxmlformats.org/drawingml/2006/main">
            <a:r>
              <a:t>Secure: change one viewing condition and justify an adaptation. Partial: compare two visible features, then revise. Unclear: define the uncertain term with this example, then retry on a different example.</a:t>
            </a:r>
          </a:p>
          <a:p xmlns:a="http://schemas.openxmlformats.org/drawingml/2006/main">
            <a:r>
              <a:t>Source: https://helpx.adobe.com/photoshop/using/line-character-spacing.html</a:t>
            </a:r>
          </a:p>
          <a:p xmlns:a="http://schemas.openxmlformats.org/drawingml/2006/main">
            <a:r>
              <a:t>Independent assessment guidance is in the private teacher folder; no assessed solution is included here.</a:t>
            </a:r>
          </a:p>
          <a:p xmlns:a="http://schemas.openxmlformats.org/drawingml/2006/main">
            <a:r>
              <a:t>Student success check: Name a visible feature, use the term accurately and connect it to audience or purpose.</a:t>
            </a:r>
          </a:p>
          <a:p xmlns:a="http://schemas.openxmlformats.org/drawingml/2006/main">
            <a:r>
              <a:t>Time for selected activity: 2 minutes. Not every activity is run in one lesson.</a:t>
            </a:r>
          </a:p>
          <a:p xmlns:a="http://schemas.openxmlformats.org/drawingml/2006/main">
            <a:r>
              <a:t>Labelled practice feedback after an attempt: Use pair kerning with the insertion point between those characters. Changing tracking across the whole title changes more than the problem.</a:t>
            </a:r>
          </a:p>
          <a:p xmlns:a="http://schemas.openxmlformats.org/drawingml/2006/main">
            <a:r>
              <a:t>Local slide locator: 01-poster-promise:19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cramped two-line supporting message needs a line-spacing decision. Extra tracking spreads letters horizontally and does not resolve the vertical gap. The same line breaks are retained in the comparison so that the changed spacing is visible.</a:t>
            </a:r>
          </a:p>
          <a:p xmlns:a="http://schemas.openxmlformats.org/drawingml/2006/main">
            <a:r>
              <a:t>Ask: Diagnose the cramped two-line message. Name the control and one thing to keep constant.</a:t>
            </a:r>
          </a:p>
          <a:p xmlns:a="http://schemas.openxmlformats.org/drawingml/2006/main">
            <a:r>
              <a:t>Watch for: A preference without visible evidence. Ask which feature supports the explanation.</a:t>
            </a:r>
          </a:p>
          <a:p xmlns:a="http://schemas.openxmlformats.org/drawingml/2006/main">
            <a:r>
              <a:t>Secure: change one viewing condition and justify an adaptation. Partial: compare two visible features, then revise. Unclear: define the uncertain term with this example, then retry on a different example.</a:t>
            </a:r>
          </a:p>
          <a:p xmlns:a="http://schemas.openxmlformats.org/drawingml/2006/main">
            <a:r>
              <a:t>Source: https://helpx.adobe.com/photoshop/using/line-character-spacing.html</a:t>
            </a:r>
          </a:p>
          <a:p xmlns:a="http://schemas.openxmlformats.org/drawingml/2006/main">
            <a:r>
              <a:t>Independent assessment guidance is in the private teacher folder; no assessed solution is included here.</a:t>
            </a:r>
          </a:p>
          <a:p xmlns:a="http://schemas.openxmlformats.org/drawingml/2006/main">
            <a:r>
              <a:t>Student success check: Name a visible feature, use the term accurately and connect it to audience or purpose.</a:t>
            </a:r>
          </a:p>
          <a:p xmlns:a="http://schemas.openxmlformats.org/drawingml/2006/main">
            <a:r>
              <a:t>Time for selected activity: 2 minutes. Not every activity is run in one lesson.</a:t>
            </a:r>
          </a:p>
          <a:p xmlns:a="http://schemas.openxmlformats.org/drawingml/2006/main">
            <a:r>
              <a:t>Labelled practice feedback after an attempt: Change leading while initially keeping wording, typeface and size constant. Then inspect whether the block fits its information role.</a:t>
            </a:r>
          </a:p>
          <a:p xmlns:a="http://schemas.openxmlformats.org/drawingml/2006/main">
            <a:r>
              <a:t>Local slide locator: 01-poster-promise:20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genuine Photoshop 2026 capture shows an editable TITLE layer with Character controls. Its existing practice values are not a recipe for your poster. The capture shows a Futura title at 150 pt, Metrics kerning and tracking 40; your choices must be tested at your own dimensions. The practice artwork is constructed and partly AI-origin, not a real film campaign.</a:t>
            </a:r>
          </a:p>
          <a:p xmlns:a="http://schemas.openxmlformats.org/drawingml/2006/main">
            <a:r>
              <a:t>Ask: Locate one pair control and one range control in the image. Explain when each is useful.</a:t>
            </a:r>
          </a:p>
          <a:p xmlns:a="http://schemas.openxmlformats.org/drawingml/2006/main">
            <a:r>
              <a:t>Watch for: Do not rasterise the title to solve an editable spacing problem.</a:t>
            </a:r>
          </a:p>
          <a:p xmlns:a="http://schemas.openxmlformats.org/drawingml/2006/main">
            <a:r>
              <a:t>Secure: change one viewing condition and justify an adaptation. Partial: compare two visible features, then revise. Unclear: define the uncertain term with this example, then retry on a different example.</a:t>
            </a:r>
          </a:p>
          <a:p xmlns:a="http://schemas.openxmlformats.org/drawingml/2006/main">
            <a:r>
              <a:t>Source: </a:t>
            </a:r>
          </a:p>
          <a:p xmlns:a="http://schemas.openxmlformats.org/drawingml/2006/main">
            <a:r>
              <a:t>Independent assessment guidance is in the private teacher folder; no assessed solution is included here.</a:t>
            </a:r>
          </a:p>
          <a:p xmlns:a="http://schemas.openxmlformats.org/drawingml/2006/main">
            <a:r>
              <a:t>Student success check: Name a visible feature, use the term accurately and connect it to audience or purpose.</a:t>
            </a:r>
          </a:p>
          <a:p xmlns:a="http://schemas.openxmlformats.org/drawingml/2006/main">
            <a:r>
              <a:t>Time for selected activity: 2 minutes. Not every activity is run in one lesson.</a:t>
            </a:r>
          </a:p>
          <a:p xmlns:a="http://schemas.openxmlformats.org/drawingml/2006/main">
            <a:r>
              <a:t>Labelled practice feedback after an attempt: Kerning addresses the insertion-point pair; tracking affects the selected range. The same numeric value is not a universal appearance across typefaces.</a:t>
            </a:r>
          </a:p>
          <a:p xmlns:a="http://schemas.openxmlformats.org/drawingml/2006/main">
            <a:r>
              <a:t>Local slide locator: 01-poster-promise:21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image is a genuine film still on A24’s Moonlight page, not the three-part release poster. A24 describes a life moving from childhood to adulthood. Use the still to discuss how silhouette, blue light and surrounding space support a possible interpretation; distinguish that interpretation from the documented plot context.</a:t>
            </a:r>
          </a:p>
          <a:p xmlns:a="http://schemas.openxmlformats.org/drawingml/2006/main">
            <a:r>
              <a:t>Ask: Write an observation → contextual connection → interpretation, then name a limit.</a:t>
            </a:r>
          </a:p>
          <a:p xmlns:a="http://schemas.openxmlformats.org/drawingml/2006/main">
            <a:r>
              <a:t>Watch for: Calling a still the release poster.</a:t>
            </a:r>
          </a:p>
          <a:p xmlns:a="http://schemas.openxmlformats.org/drawingml/2006/main">
            <a:r>
              <a:t>Secure: justify a competing interpretation. Partial: point to two visible features. Unclear: model observation versus inference, then retry.</a:t>
            </a:r>
          </a:p>
          <a:p xmlns:a="http://schemas.openxmlformats.org/drawingml/2006/main">
            <a:r>
              <a:t>Source: https://a24films.com/films/moonlight</a:t>
            </a:r>
          </a:p>
          <a:p xmlns:a="http://schemas.openxmlformats.org/drawingml/2006/main">
            <a:r>
              <a:t>Student success check: Uses a visible detail, accurate source context and language that does not universalise the interpretation.</a:t>
            </a:r>
          </a:p>
          <a:p xmlns:a="http://schemas.openxmlformats.org/drawingml/2006/main">
            <a:r>
              <a:t>Time for selected activity: 2 minutes. Not every activity is run in one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slide locator: 01-poster-promise:22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intentional return places two already introduced images together for a new comparison. The museum establishes the historical poster’s date and maker; Pentagram supplies the contemporary design intent. Describe the differing use of symbolic form, image and type. Do not infer that an older date means a weaker design.</a:t>
            </a:r>
          </a:p>
          <a:p xmlns:a="http://schemas.openxmlformats.org/drawingml/2006/main">
            <a:r>
              <a:t>Ask: Individually write one similarity, one difference and one question about cultural or historical context.</a:t>
            </a:r>
          </a:p>
          <a:p xmlns:a="http://schemas.openxmlformats.org/drawingml/2006/main">
            <a:r>
              <a:t>Watch for: A preference without visible evidence. Ask which feature supports the explanation.</a:t>
            </a:r>
          </a:p>
          <a:p xmlns:a="http://schemas.openxmlformats.org/drawingml/2006/main">
            <a:r>
              <a:t>Secure: change one viewing condition and justify an adaptation. Partial: compare two visible features, then revise. Unclear: define the uncertain term with this example, then retry on a different example.</a:t>
            </a:r>
          </a:p>
          <a:p xmlns:a="http://schemas.openxmlformats.org/drawingml/2006/main">
            <a:r>
              <a:t>Source: https://www.moma.org/collection/works/5665</a:t>
            </a:r>
          </a:p>
          <a:p xmlns:a="http://schemas.openxmlformats.org/drawingml/2006/main">
            <a:r>
              <a:t>Independent assessment guidance is in the private teacher folder; no assessed solution is included here.</a:t>
            </a:r>
          </a:p>
          <a:p xmlns:a="http://schemas.openxmlformats.org/drawingml/2006/main">
            <a:r>
              <a:t>Student success check: Each point cites a visible feature or source fact; emotion is framed as a defensible interpretation.</a:t>
            </a:r>
          </a:p>
          <a:p xmlns:a="http://schemas.openxmlformats.org/drawingml/2006/main">
            <a:r>
              <a:t>Time for selected activity: 2 minutes. Not every activity is run in one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slide locator: 01-poster-promise:23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now have vocabulary and worked examples. Use them to compare alternatives rather than decorate a copied poster. Retain the rejected treatment and state why it serves the brief less well. Next class, retrieve kerning/tracking/leading and explain a fresh hierarchy fault without notes.</a:t>
            </a:r>
          </a:p>
          <a:p xmlns:a="http://schemas.openxmlformats.org/drawingml/2006/main">
            <a:r>
              <a:t>Ask: Make your first three thumbnail directions. Below them, state the audience and message in one sentence.</a:t>
            </a:r>
          </a:p>
          <a:p xmlns:a="http://schemas.openxmlformats.org/drawingml/2006/main">
            <a:r>
              <a:t>Watch for: A preference without visible evidence. Ask which feature supports the explanation.</a:t>
            </a:r>
          </a:p>
          <a:p xmlns:a="http://schemas.openxmlformats.org/drawingml/2006/main">
            <a:r>
              <a:t>Secure: change one viewing condition and justify an adaptation. Partial: compare two visible features, then revise. Unclear: define the uncertain term with this example, then retry on a different example.</a:t>
            </a:r>
          </a:p>
          <a:p xmlns:a="http://schemas.openxmlformats.org/drawingml/2006/main">
            <a:r>
              <a:t>Source: </a:t>
            </a:r>
          </a:p>
          <a:p xmlns:a="http://schemas.openxmlformats.org/drawingml/2006/main">
            <a:r>
              <a:t>Independent assessment guidance is in the private teacher folder; no assessed solution is included here.</a:t>
            </a:r>
          </a:p>
          <a:p xmlns:a="http://schemas.openxmlformats.org/drawingml/2006/main">
            <a:r>
              <a:t>Student success check: Three substantially different compositions; a coherent premise; a justified next direction.</a:t>
            </a:r>
          </a:p>
          <a:p xmlns:a="http://schemas.openxmlformats.org/drawingml/2006/main">
            <a:r>
              <a:t>Time for selected activity: 8 minutes. Not every activity is run in one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slide locator: 01-poster-promise:24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bbb38c739b48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b5316c11ff42ec" /><Relationship Type="http://schemas.openxmlformats.org/officeDocument/2006/relationships/slideLayout" Target="/ppt/slideLayouts/slideLayout1.xml" Id="Rf4e7face736f43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e7face736f43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ed87d16124dc9" /><Relationship Type="http://schemas.openxmlformats.org/officeDocument/2006/relationships/image" Target="/ppt/media/image.jpeg" Id="R96dbe0f869764457" /><Relationship Type="http://schemas.openxmlformats.org/officeDocument/2006/relationships/notesSlide" Target="/ppt/notesSlides/notesSlide1.xml" Id="Rff3546ec591e48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e2e3af41d4af7" /><Relationship Type="http://schemas.openxmlformats.org/officeDocument/2006/relationships/notesSlide" Target="/ppt/notesSlides/notesSlide2.xml" Id="Rbc04d93058c144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bfdc69eed4c37" /><Relationship Type="http://schemas.openxmlformats.org/officeDocument/2006/relationships/notesSlide" Target="/ppt/notesSlides/notesSlide3.xml" Id="R01eadd3a9f504e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1259ef62b4cd4" /><Relationship Type="http://schemas.openxmlformats.org/officeDocument/2006/relationships/notesSlide" Target="/ppt/notesSlides/notesSlide4.xml" Id="R2aa337e12fdd49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9563bb4724b47" /><Relationship Type="http://schemas.openxmlformats.org/officeDocument/2006/relationships/notesSlide" Target="/ppt/notesSlides/notesSlide5.xml" Id="R17e5ef91ecc44a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7303429b54c60" /><Relationship Type="http://schemas.openxmlformats.org/officeDocument/2006/relationships/notesSlide" Target="/ppt/notesSlides/notesSlide6.xml" Id="R3578be700cc444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b4f32e82f42ab" /><Relationship Type="http://schemas.openxmlformats.org/officeDocument/2006/relationships/notesSlide" Target="/ppt/notesSlides/notesSlide7.xml" Id="R840f969dbc0e48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a980545bc49e7" /><Relationship Type="http://schemas.openxmlformats.org/officeDocument/2006/relationships/notesSlide" Target="/ppt/notesSlides/notesSlide8.xml" Id="R4a4b8a68cc7f4a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3845adefe4fa2" /><Relationship Type="http://schemas.openxmlformats.org/officeDocument/2006/relationships/image" Target="/ppt/media/image2.jpeg" Id="Rbdc3e74b1be44610" /><Relationship Type="http://schemas.openxmlformats.org/officeDocument/2006/relationships/notesSlide" Target="/ppt/notesSlides/notesSlide9.xml" Id="R80adf97d7e3345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8425339114414" /><Relationship Type="http://schemas.openxmlformats.org/officeDocument/2006/relationships/image" Target="/ppt/media/image3.jpeg" Id="Rbec51d221cb74695" /><Relationship Type="http://schemas.openxmlformats.org/officeDocument/2006/relationships/notesSlide" Target="/ppt/notesSlides/notesSlide10.xml" Id="Rb6052526ae3641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21f2bd03a4004" /><Relationship Type="http://schemas.openxmlformats.org/officeDocument/2006/relationships/notesSlide" Target="/ppt/notesSlides/notesSlide11.xml" Id="Raef1c0dd4a8440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0aa80d12d4f3b" /><Relationship Type="http://schemas.openxmlformats.org/officeDocument/2006/relationships/chart" Target="/ppt/slides/charts/chart1.xml" Id="R06ecd99e83d94a8c" /><Relationship Type="http://schemas.openxmlformats.org/officeDocument/2006/relationships/notesSlide" Target="/ppt/notesSlides/notesSlide12.xml" Id="R8a26709edc4445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12f88392a4621" /><Relationship Type="http://schemas.openxmlformats.org/officeDocument/2006/relationships/notesSlide" Target="/ppt/notesSlides/notesSlide13.xml" Id="R7d047280d4474e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04822ee774f3d" /><Relationship Type="http://schemas.openxmlformats.org/officeDocument/2006/relationships/notesSlide" Target="/ppt/notesSlides/notesSlide14.xml" Id="Rbc23e297443e4ca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ef6ddf6ae4fcd" /><Relationship Type="http://schemas.openxmlformats.org/officeDocument/2006/relationships/notesSlide" Target="/ppt/notesSlides/notesSlide15.xml" Id="R272deefbb0144b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6f683bdab4c7c" /><Relationship Type="http://schemas.openxmlformats.org/officeDocument/2006/relationships/image" Target="/ppt/media/image4.jpeg" Id="R58828d9cbc9643b2" /><Relationship Type="http://schemas.openxmlformats.org/officeDocument/2006/relationships/notesSlide" Target="/ppt/notesSlides/notesSlide16.xml" Id="R5430dffa8ee140c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8d66e8fc84d84" /><Relationship Type="http://schemas.openxmlformats.org/officeDocument/2006/relationships/image" Target="/ppt/media/image.png" Id="R92399262f5904f6d" /><Relationship Type="http://schemas.openxmlformats.org/officeDocument/2006/relationships/notesSlide" Target="/ppt/notesSlides/notesSlide17.xml" Id="Re1f9bb03a3cd443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b8b9794414542" /><Relationship Type="http://schemas.openxmlformats.org/officeDocument/2006/relationships/image" Target="/ppt/media/image5.jpeg" Id="R4c4707e8edad495d" /><Relationship Type="http://schemas.openxmlformats.org/officeDocument/2006/relationships/notesSlide" Target="/ppt/notesSlides/notesSlide18.xml" Id="R43c79516e85642c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753d1aded4a0d" /><Relationship Type="http://schemas.openxmlformats.org/officeDocument/2006/relationships/notesSlide" Target="/ppt/notesSlides/notesSlide19.xml" Id="R74526c998943482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9ccf5a18e4f7e" /><Relationship Type="http://schemas.openxmlformats.org/officeDocument/2006/relationships/notesSlide" Target="/ppt/notesSlides/notesSlide20.xml" Id="R066f609e08bb4bc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27d3f1b624afc" /><Relationship Type="http://schemas.openxmlformats.org/officeDocument/2006/relationships/image" Target="/ppt/media/image2.png" Id="R4395dada76354174" /><Relationship Type="http://schemas.openxmlformats.org/officeDocument/2006/relationships/image" Target="/ppt/media/image3.png" Id="R61cbc9f1adf14901" /><Relationship Type="http://schemas.openxmlformats.org/officeDocument/2006/relationships/notesSlide" Target="/ppt/notesSlides/notesSlide21.xml" Id="R2d5d8d0166f84c3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669e4fa0e461d" /><Relationship Type="http://schemas.openxmlformats.org/officeDocument/2006/relationships/image" Target="/ppt/media/image6.jpeg" Id="Re31c2f53e34a4f76" /><Relationship Type="http://schemas.openxmlformats.org/officeDocument/2006/relationships/notesSlide" Target="/ppt/notesSlides/notesSlide22.xml" Id="Rb64cb47f4888491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18052e340414d" /><Relationship Type="http://schemas.openxmlformats.org/officeDocument/2006/relationships/image" Target="/ppt/media/image7.jpeg" Id="R02fd712550674977" /><Relationship Type="http://schemas.openxmlformats.org/officeDocument/2006/relationships/image" Target="/ppt/media/image8.jpeg" Id="Rf486caa99c004e94" /><Relationship Type="http://schemas.openxmlformats.org/officeDocument/2006/relationships/notesSlide" Target="/ppt/notesSlides/notesSlide23.xml" Id="R203b123a452749d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27b5175fa4c4c" /><Relationship Type="http://schemas.openxmlformats.org/officeDocument/2006/relationships/notesSlide" Target="/ppt/notesSlides/notesSlide24.xml" Id="R13c428c72c9f4e7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pieChart>
        <c:ser>
          <c:idx val="0"/>
          <c:order val="0"/>
          <c:tx>
            <c:v>Equal schematic hue sectors</c:v>
          </c:tx>
          <c:dPt>
            <c:idx val="0"/>
            <c:spPr>
              <a:solidFill xmlns:a="http://schemas.openxmlformats.org/drawingml/2006/main">
                <a:srgbClr val="D64945"/>
              </a:solidFill>
            </c:spPr>
          </c:dPt>
          <c:dPt>
            <c:idx val="1"/>
            <c:spPr>
              <a:solidFill xmlns:a="http://schemas.openxmlformats.org/drawingml/2006/main">
                <a:srgbClr val="DC743F"/>
              </a:solidFill>
            </c:spPr>
          </c:dPt>
          <c:dPt>
            <c:idx val="2"/>
            <c:spPr>
              <a:solidFill xmlns:a="http://schemas.openxmlformats.org/drawingml/2006/main">
                <a:srgbClr val="E79A39"/>
              </a:solidFill>
            </c:spPr>
          </c:dPt>
          <c:dPt>
            <c:idx val="3"/>
            <c:spPr>
              <a:solidFill xmlns:a="http://schemas.openxmlformats.org/drawingml/2006/main">
                <a:srgbClr val="E4BA3E"/>
              </a:solidFill>
            </c:spPr>
          </c:dPt>
          <c:dPt>
            <c:idx val="4"/>
            <c:spPr>
              <a:solidFill xmlns:a="http://schemas.openxmlformats.org/drawingml/2006/main">
                <a:srgbClr val="E5CF4B"/>
              </a:solidFill>
            </c:spPr>
          </c:dPt>
          <c:dPt>
            <c:idx val="5"/>
            <c:spPr>
              <a:solidFill xmlns:a="http://schemas.openxmlformats.org/drawingml/2006/main">
                <a:srgbClr val="9CAC48"/>
              </a:solidFill>
            </c:spPr>
          </c:dPt>
          <c:dPt>
            <c:idx val="6"/>
            <c:spPr>
              <a:solidFill xmlns:a="http://schemas.openxmlformats.org/drawingml/2006/main">
                <a:srgbClr val="4B9160"/>
              </a:solidFill>
            </c:spPr>
          </c:dPt>
          <c:dPt>
            <c:idx val="7"/>
            <c:spPr>
              <a:solidFill xmlns:a="http://schemas.openxmlformats.org/drawingml/2006/main">
                <a:srgbClr val="398E87"/>
              </a:solidFill>
            </c:spPr>
          </c:dPt>
          <c:dPt>
            <c:idx val="8"/>
            <c:spPr>
              <a:solidFill xmlns:a="http://schemas.openxmlformats.org/drawingml/2006/main">
                <a:srgbClr val="426BA8"/>
              </a:solidFill>
            </c:spPr>
          </c:dPt>
          <c:dPt>
            <c:idx val="9"/>
            <c:spPr>
              <a:solidFill xmlns:a="http://schemas.openxmlformats.org/drawingml/2006/main">
                <a:srgbClr val="6857A2"/>
              </a:solidFill>
            </c:spPr>
          </c:dPt>
          <c:dPt>
            <c:idx val="10"/>
            <c:spPr>
              <a:solidFill xmlns:a="http://schemas.openxmlformats.org/drawingml/2006/main">
                <a:srgbClr val="915295"/>
              </a:solidFill>
            </c:spPr>
          </c:dPt>
          <c:dPt>
            <c:idx val="11"/>
            <c:spPr>
              <a:solidFill xmlns:a="http://schemas.openxmlformats.org/drawingml/2006/main">
                <a:srgbClr val="B85177"/>
              </a:solidFill>
            </c:spPr>
          </c:dPt>
          <c:cat>
            <c:strRef>
              <c:f>'Chart Data'!$A$2:$A$13</c:f>
              <c:strCache>
                <c:ptCount val="12"/>
                <c:pt idx="0">
                  <c:v>R</c:v>
                </c:pt>
                <c:pt idx="1">
                  <c:v>R–O</c:v>
                </c:pt>
                <c:pt idx="2">
                  <c:v>O</c:v>
                </c:pt>
                <c:pt idx="3">
                  <c:v>Y–O</c:v>
                </c:pt>
                <c:pt idx="4">
                  <c:v>Y</c:v>
                </c:pt>
                <c:pt idx="5">
                  <c:v>Y–G</c:v>
                </c:pt>
                <c:pt idx="6">
                  <c:v>G</c:v>
                </c:pt>
                <c:pt idx="7">
                  <c:v>B–G</c:v>
                </c:pt>
                <c:pt idx="8">
                  <c:v>B</c:v>
                </c:pt>
                <c:pt idx="9">
                  <c:v>B–V</c:v>
                </c:pt>
                <c:pt idx="10">
                  <c:v>V</c:v>
                </c:pt>
                <c:pt idx="11">
                  <c:v>R–V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30</c:v>
                </c:pt>
                <c:pt idx="4">
                  <c:v>30</c:v>
                </c:pt>
                <c:pt idx="5">
                  <c:v>30</c:v>
                </c:pt>
                <c:pt idx="6">
                  <c:v>30</c:v>
                </c:pt>
                <c:pt idx="7">
                  <c:v>30</c:v>
                </c:pt>
                <c:pt idx="8">
                  <c:v>30</c:v>
                </c:pt>
                <c:pt idx="9">
                  <c:v>30</c:v>
                </c:pt>
                <c:pt idx="10">
                  <c:v>30</c:v>
                </c:pt>
                <c:pt idx="11">
                  <c:v>30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7232B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ctr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4A997-1DCB-4B1E-983B-663C55A2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  /   NOTICE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97CD2-1E82-4B58-A8D3-C8B092EE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A poster makes a promise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9245B-1315-476E-884B-898FA48B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• visual communication, colour and typography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be0f869764457"/>
          <a:stretch xmlns:a="http://schemas.openxmlformats.org/drawingml/2006/main"/>
        </p:blipFill>
        <p:spPr>
          <a:xfrm xmlns:a="http://schemas.openxmlformats.org/drawingml/2006/main">
            <a:off x="1444878" y="2143125"/>
            <a:ext cx="4711194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E29C5-8BFE-422D-BEA9-68E3A6E8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Decide what the viewer should notice, feel and understand.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99741-78AE-4443-AF75-8CDEE941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Then show which choices create that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329A0-C423-43B9-9775-ADEB7A54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CB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35B93-EF60-4F28-95EB-195BC125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TRY · 2 MIN   Without discussing first, write the first two things you noticed. Compare responses.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FC56B-96EC-42FF-8573-E1682DCD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01 / 24   ·   Pentagram / Justus Oehler • BILLIE, 2026 • © rights holders</a:t>
            </a:r>
          </a:p>
        </p:txBody>
      </p:sp>
    </p:spTree>
    <p:extLst>
      <p:ext uri="{BB962C8B-B14F-4D97-AF65-F5344CB8AC3E}">
        <p14:creationId xmlns:p14="http://schemas.microsoft.com/office/powerpoint/2010/main" val="1073765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4B42BC-11AF-45C5-863E-96110A59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  /   UNDERSTAND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44A97-B7E0-4B38-ABF3-A795818D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Audience, purpose and viewing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F2883-D1B5-4B4B-95F3-D0755412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A successful choice answers a particular communication problem.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17AF8-FED2-48C4-84DD-29B6E346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WHO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4187A-9D56-416A-BA4C-BB59A5AC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669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Specific audience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85EB5-A49B-4667-BD91-B786E2BE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638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8B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92F27-062D-4DDE-9F11-C227D573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WHY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55B2C3-CE91-4E13-8CD9-CD6B214A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432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Message /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4DE2B-DC88-4C95-B6E5-4E95D5E9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638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8B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EFC6C-B5EB-4E3A-9B46-C6703220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WHERE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FB32F-AB48-4870-838B-93224F14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195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Viewing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276FE-5686-4F85-9FF2-4BA064B3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638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8B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0C671-33EE-4323-AE4D-88152EEF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Audience: who encounters the image?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1103BB-FC58-451B-8C66-BE636557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Purpose: what should they understand or do?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C71C1-EF6E-4E05-8E54-254FA6E3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Context: phone, corridor print or cinema billboard?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3258AC-F372-47BD-BA6C-D9979406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CB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4A3D53-BB4E-434C-94D9-099D6AC4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TRY · 2 MIN   For a school screening, write one sentence naming audience, purpose and viewing context.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700DC4-2FF9-47BC-ABE4-20E25C80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02 / 24   ·   Learning Studio • original teaching model; not a real campaign</a:t>
            </a:r>
          </a:p>
        </p:txBody>
      </p:sp>
    </p:spTree>
    <p:extLst>
      <p:ext uri="{BB962C8B-B14F-4D97-AF65-F5344CB8AC3E}">
        <p14:creationId xmlns:p14="http://schemas.microsoft.com/office/powerpoint/2010/main" val="6689960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5ACAA6-0E99-448E-8D9A-E06BEAE5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  /   UNDERSTAND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CF90D-A73C-4FC8-8E4F-3F59129D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Elements and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7E311-48BD-4836-BF87-38D0292A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Elements are ingredients; principles describe their relationships.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FAAA3-9CF7-46A7-9012-9B0E0D44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16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EFE2F-9DB7-4BF9-946D-3CF1A7A8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285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6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0CDF6-53EF-4A4B-810C-1A62AB46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791075"/>
            <a:ext cx="116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Shape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D739A-C7C5-4B5E-8C0A-594D7769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981325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79857-A3E2-488B-A3B9-129E554C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91075"/>
            <a:ext cx="116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E008F-26FA-4FC5-B27F-FCCCE0F7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838450"/>
            <a:ext cx="952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78A4D-CD2A-4E8C-AF13-9B89DDFA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667125"/>
            <a:ext cx="952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AB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3E6818-3174-4338-98B1-C5DE85F0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91075"/>
            <a:ext cx="116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8E08E-B1A9-4320-922A-9D46A140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47950"/>
            <a:ext cx="109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B5074-0573-4BF8-82E8-98537E97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90850"/>
            <a:ext cx="4667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E90D0-10A7-4C20-90B9-4812935B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91075"/>
            <a:ext cx="116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Texture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315D6A-851F-491E-A96C-131220BE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838450"/>
            <a:ext cx="190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6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42580-15F1-457A-AFB5-56E0C794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838450"/>
            <a:ext cx="190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AB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3B784-D7B4-4D51-BA89-9F293984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38450"/>
            <a:ext cx="190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6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B55A72-0504-4613-9AD6-E90B16EE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362325"/>
            <a:ext cx="190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AB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E63D4D-BD2F-473E-AC02-C04BC6AE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362325"/>
            <a:ext cx="190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6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142265-F111-4A92-B6BD-D195E5EE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362325"/>
            <a:ext cx="190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AB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A3C76A-0AAB-4249-A9B2-C36FB53E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886200"/>
            <a:ext cx="190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6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8BF48C-9DA6-4EE7-A805-913E3CA7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886200"/>
            <a:ext cx="190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AB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9F31F-3752-4622-B1FF-5A7CB335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886200"/>
            <a:ext cx="190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6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39E21F-1C45-4CCF-ADBF-67A3C0BA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Line, shape, form, space, colour, value and texture.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643151-7D79-4BC9-AC4A-C2689738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Balance, emphasis, movement, proportion, rhythm and unity.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3EC445-8EE1-48BB-A6FB-E119DB7C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Graphic layouts also use contrast, alignment and proximity.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E23137-57A5-4630-889E-E34C9717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CB0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F82DE9-A7B8-43AD-9836-1547C4A1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TRY · 2 MIN   Name one element and one relationship you could change in a poster.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77AC44-4ED2-4B65-B62E-9962D989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03 / 24   ·   Getty • Elements and principles</a:t>
            </a:r>
          </a:p>
        </p:txBody>
      </p:sp>
    </p:spTree>
    <p:extLst>
      <p:ext uri="{BB962C8B-B14F-4D97-AF65-F5344CB8AC3E}">
        <p14:creationId xmlns:p14="http://schemas.microsoft.com/office/powerpoint/2010/main" val="10563921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9A0759-AAEB-44BE-AE37-2BD26BBA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  /   UNDERSTAND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AAF9F-1BE0-48C8-BA73-D56C5C81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Hierarchy and emphasis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9004B-7A82-413A-8554-7042DB9F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Give the message an intentional reading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7B8F3-7CCE-4D9D-B7E4-1688518D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476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8FC7A-8477-4BFD-AD47-57FABB7D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2057400" cy="1948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6F0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6F0E6"/>
                </a:solidFill>
                <a:latin typeface="Helvetica Neue"/>
                <a:ea typeface="Helvetica Neue"/>
                <a:cs typeface="Helvetica Neue"/>
              </a:rPr>
              <a:t>FILM NIGHT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0231D-D2E1-4461-82E6-7FF9C298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057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28F51-42F2-4DC8-98A2-D7EDB78D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6F0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6F0E6"/>
                </a:solidFill>
                <a:latin typeface="Helvetica Neue"/>
                <a:ea typeface="Helvetica Neue"/>
                <a:cs typeface="Helvetica Neue"/>
              </a:rPr>
              <a:t>Friday · 7 pm · Hall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0228D-AEBC-438B-956E-05D54AA5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2952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5CF9CF-77D2-4DBE-B13B-2F5FF052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05075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6F0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6F0E6"/>
                </a:solidFill>
                <a:latin typeface="Helvetica Neue"/>
                <a:ea typeface="Helvetica Neue"/>
                <a:cs typeface="Helvetica Neue"/>
              </a:rPr>
              <a:t>FILM NIGHT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308DB-0F53-49AF-983D-08A20233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23850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4B8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4B860"/>
                </a:solidFill>
                <a:latin typeface="Helvetica Neue"/>
                <a:ea typeface="Helvetica Neue"/>
                <a:cs typeface="Helvetica Neue"/>
              </a:rPr>
              <a:t>FRIDAY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E73FF-56CB-4B90-8988-BB6DB68C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5529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6F0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6F0E6"/>
                </a:solidFill>
                <a:latin typeface="Helvetica Neue"/>
                <a:ea typeface="Helvetica Neue"/>
                <a:cs typeface="Helvetica Neue"/>
              </a:rPr>
              <a:t>7 PM · HALL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029510-1988-4DD6-8616-AAEE41C9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Emphasis establishes a focal point.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11F3B-E7AB-49A1-988F-FE5E8F4F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Hierarchy ranks the important information.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7699B-BF4A-4805-AC92-EA5384ED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Size, placement, weight and contrast work together.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359A8-CB14-4B10-BD3D-850A72B6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CB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CBE13-75A5-4B07-9D0F-B497A4C9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TRY · 2 MIN   Predict the first, second and third reading order in each version; then identify the trade-off.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F6C980-0C79-469B-8C8D-C1D560E0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04 / 24   ·   Learning Studio • original teaching model; not a real campaign</a:t>
            </a:r>
          </a:p>
        </p:txBody>
      </p:sp>
    </p:spTree>
    <p:extLst>
      <p:ext uri="{BB962C8B-B14F-4D97-AF65-F5344CB8AC3E}">
        <p14:creationId xmlns:p14="http://schemas.microsoft.com/office/powerpoint/2010/main" val="10690847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57B78-200F-4DAA-800D-9DEF96A8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  /   UNDERSTAND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30794-ED08-4953-9614-76AB06DD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Balance and proportion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1BE12-7977-497A-9E39-DAF951C4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Different parts can carry similar visual weight.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7ABD8-A5AA-4D15-B4B4-2581E6A0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Symmetric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175A2-8B03-49E1-A4B0-089A0959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669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Asymmetric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FA43F-17A9-4ABA-A887-89CDBAD6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6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855C8-E13E-4D72-9BAD-DEC615B7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5300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6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B054B-64D1-405C-BDA8-5CC643F5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71825"/>
            <a:ext cx="76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6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07C0C-DEE8-4A4E-BAED-223FE20C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171825"/>
            <a:ext cx="76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6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9DD5E-4D8D-4820-B665-E792E5BE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952750"/>
            <a:ext cx="10953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13481-8F59-480B-AB77-F1EC0784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43325"/>
            <a:ext cx="619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31F86-8AD7-464A-9E09-30A8AF0A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Symmetry can establish stability.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8DC39-2239-407E-B363-91B699E3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Asymmetry balances different sizes, values or positions.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12DD0-523F-4707-B94D-AC84A015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Proportion concerns the size of one part relative to another.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884FF4-9F86-4349-835E-B344D866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CB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B7B1D7-BF16-42EC-A3D8-9C5CEBB6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TRY · 2 MIN   Describe one change that would balance a large subject without duplicating 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89D3D2-0261-43BF-884A-D91B327C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05 / 24   ·   Getty • Elements and principles</a:t>
            </a:r>
          </a:p>
        </p:txBody>
      </p:sp>
    </p:spTree>
    <p:extLst>
      <p:ext uri="{BB962C8B-B14F-4D97-AF65-F5344CB8AC3E}">
        <p14:creationId xmlns:p14="http://schemas.microsoft.com/office/powerpoint/2010/main" val="3449682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6E528C-5510-42B7-A89D-E1E0B960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  /   UNDERSTAND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00DAE-C644-4CA3-9823-444515C3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Contrast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8AE61-0258-48AC-8E28-E2EFE9C9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Contrast is a visible difference with a job to 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7EBC8-DE76-4825-968F-282FBC44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0003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9EE77-F3B6-4ED1-A4AF-5AABEF1E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43150"/>
            <a:ext cx="30003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AB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A7094-E43B-4D69-B320-1C618AB6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6F0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6F0E6"/>
                </a:solidFill>
                <a:latin typeface="Helvetica Neue"/>
                <a:ea typeface="Helvetica Neue"/>
                <a:cs typeface="Helvetica Neue"/>
              </a:rPr>
              <a:t>FILM</a:t>
            </a:r>
          </a:p>
          <a:p xmlns:a="http://schemas.openxmlformats.org/drawingml/2006/main">
            <a:pPr>
              <a:defRPr sz="3675" b="1">
                <a:solidFill>
                  <a:srgbClr val="F6F0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6F0E6"/>
                </a:solidFill>
                <a:latin typeface="Helvetica Neue"/>
                <a:ea typeface="Helvetica Neue"/>
                <a:cs typeface="Helvetica Neue"/>
              </a:rPr>
              <a:t>NIGHT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401E7-1C53-4221-A462-BA05B6CC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43200"/>
            <a:ext cx="266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6F0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6F0E6"/>
                </a:solidFill>
                <a:latin typeface="Helvetica Neue"/>
                <a:ea typeface="Helvetica Neue"/>
                <a:cs typeface="Helvetica Neue"/>
              </a:rPr>
              <a:t>FILM</a:t>
            </a:r>
          </a:p>
          <a:p xmlns:a="http://schemas.openxmlformats.org/drawingml/2006/main">
            <a:pPr>
              <a:defRPr sz="3675" b="1">
                <a:solidFill>
                  <a:srgbClr val="F6F0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6F0E6"/>
                </a:solidFill>
                <a:latin typeface="Helvetica Neue"/>
                <a:ea typeface="Helvetica Neue"/>
                <a:cs typeface="Helvetica Neue"/>
              </a:rPr>
              <a:t>NIGHT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E093A-6D13-4DC3-9F59-B723E846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Stronger value contrast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D335C-ED3E-4251-82AA-7C4EF5C0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9107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Weaker value contrast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2353A-4C8C-4940-AA91-0F1285CF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15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Light against dark.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AB965-D40E-4E2E-A166-71BC4F91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90850"/>
            <a:ext cx="415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Large against small.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B8390-24C2-4655-8FD1-3A752219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33800"/>
            <a:ext cx="415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Heavy type against lighter details.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CCF2D-AF0C-4583-BD0E-6A01B4BA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76750"/>
            <a:ext cx="415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Texture against a quieter area.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5448F-D79A-4500-BBB5-389CD931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CB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E3A311-F0B4-4B31-A506-3D2C8D8A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TRY · 2 MIN   Identify which title is easier to read and explain the specific difference.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0F939-0011-43F9-84C2-5FAE444E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06 / 24   ·   Learning Studio • original teaching model; not a real campaign</a:t>
            </a:r>
          </a:p>
        </p:txBody>
      </p:sp>
    </p:spTree>
    <p:extLst>
      <p:ext uri="{BB962C8B-B14F-4D97-AF65-F5344CB8AC3E}">
        <p14:creationId xmlns:p14="http://schemas.microsoft.com/office/powerpoint/2010/main" val="20560936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2DF73E-370C-4294-990D-9D4B2BF6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  /   UNDERSTAND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9AAA4-42CA-4DB2-A6C9-E7CF1873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Alignment and proximity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3EC6D-EDD0-4683-80E1-3C3C059C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Use shared edges and deliberate gaps to organise information.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21963-DBE4-4EA1-8BEA-272FD227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0960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70767-890A-49CE-85BA-7D5A6287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85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F1FA9-DD06-49D6-9B22-2F81382D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57450"/>
            <a:ext cx="542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COMMUNITY FILM NIGHT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EE136-6CF6-4143-A45E-F71A083C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24200"/>
            <a:ext cx="5334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Friday · 7 pm</a:t>
            </a:r>
          </a:p>
          <a:p xmlns:a="http://schemas.openxmlformats.org/drawingml/2006/main">
            <a:pPr>
              <a:defRPr sz="21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School hall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9DEC9-400B-4CDF-B8F9-FFD44108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815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Tickets at the office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AA0C8-ABAE-4C03-9175-BD5637AE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Shared edge; grouped event details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41EE2-4A4A-4E86-838D-04095F58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Alignment gives related items a visible structure.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05CCAD-1C59-420E-A704-EF154290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Proximity groups items through distance.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D6EE1-191E-4725-8E70-22E0B0CC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An unrelated item should not appear to belong to the group.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B405F7-89B4-45BB-9505-5F48DF12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CB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9B3BE-C86D-4290-8A9E-1BCE5054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TRY · 2 MIN   Sketch a revised notice with one shared edge and two clear information groups.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6A22D-B3D4-4514-8BFE-FF80E9E3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07 / 24   ·   Learning Studio • original teaching model; not a real campaign</a:t>
            </a:r>
          </a:p>
        </p:txBody>
      </p:sp>
    </p:spTree>
    <p:extLst>
      <p:ext uri="{BB962C8B-B14F-4D97-AF65-F5344CB8AC3E}">
        <p14:creationId xmlns:p14="http://schemas.microsoft.com/office/powerpoint/2010/main" val="7881706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F4B9B7-582D-4E99-95A7-4D4DC6A6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  /   UNDERSTAND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17C2A-5EDE-44FC-B7E2-D29F9BC8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Repetition, rhythm, unity and variety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D88B1-F7A7-477D-A26A-0A6A7EBC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Repeat a useful feature; introduce difference where it carries meaning.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341DC-6468-42B7-8128-CDED1917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590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6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31C35-1161-4976-9044-B9AAFEA8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52750"/>
            <a:ext cx="590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6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47556-2288-4945-99A4-A245F854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52750"/>
            <a:ext cx="590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6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F1A36-7874-4A6D-ACDD-F45CF254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952750"/>
            <a:ext cx="590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6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05826-556A-4583-8F08-44C33C18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952750"/>
            <a:ext cx="5905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B3B6E-438A-4724-89C2-D328F9BE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952750"/>
            <a:ext cx="590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6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AB3D1-F624-4AC0-ABE0-398A6E2C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52750"/>
            <a:ext cx="590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6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66EBBB-CD16-46A9-8AE2-001A036C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Repeated shape and spacing; one purposeful change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66DE3-732F-48BA-A657-D30FF645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15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Repetition reconnects related information.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6B478E-AF86-4B24-85DC-052DABE2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90850"/>
            <a:ext cx="415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Rhythm creates a visual sequence.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6B809-3408-4DF9-96CC-395D5722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33800"/>
            <a:ext cx="415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Unity makes the choices feel coherent.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56C8C-7316-40D3-B862-04AD6835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76750"/>
            <a:ext cx="415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Variety can distinguish an important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4C7EC7-CFEE-44A4-AD6E-5B6F6BEE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CB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580325-4805-421D-BE6D-2551C589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TRY · 2 MIN   Choose one feature to repeat in a poster and one feature that should differ. Explain both jobs.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BACAA6-A171-4F8E-9253-12EB2888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08 / 24   ·   Getty • Elements and principles</a:t>
            </a:r>
          </a:p>
        </p:txBody>
      </p:sp>
    </p:spTree>
    <p:extLst>
      <p:ext uri="{BB962C8B-B14F-4D97-AF65-F5344CB8AC3E}">
        <p14:creationId xmlns:p14="http://schemas.microsoft.com/office/powerpoint/2010/main" val="15035072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A50BB-45A8-4C29-9738-DFCE1DA0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  /   UNDERSTAND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18C9D-B569-447B-BC7E-FC482C23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Space and visual metaphor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BD3D7-D8EC-4901-8B6E-23A82DC2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An image can suggest an idea through a carefully chosen form.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3e74b1be44610"/>
          <a:stretch xmlns:a="http://schemas.openxmlformats.org/drawingml/2006/main"/>
        </p:blipFill>
        <p:spPr>
          <a:xfrm xmlns:a="http://schemas.openxmlformats.org/drawingml/2006/main">
            <a:off x="2770275" y="2143125"/>
            <a:ext cx="20604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441DF-5C47-4E65-B8D6-07AAEBF2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Positive space carries the image or type.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57985-8DE2-48DC-900C-C37BA8C5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Negative space surrounds and separates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5CE25-4800-41BF-8661-64D7F042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A metaphor proposes an association; context affects its reading.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2F07A-664C-483A-B1CB-ADE5B820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CB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A84F8-0518-42A4-A014-A72BC6D5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TRY · 2 MIN   Point to a shape and an empty area. Explain how they affect the image without inventing designer intent.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9CD11-8B28-4EB9-853D-E2FCB1F4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09 / 24   ·   Saul Bass, 1955 • MoMA • © rights holders</a:t>
            </a:r>
          </a:p>
        </p:txBody>
      </p:sp>
    </p:spTree>
    <p:extLst>
      <p:ext uri="{BB962C8B-B14F-4D97-AF65-F5344CB8AC3E}">
        <p14:creationId xmlns:p14="http://schemas.microsoft.com/office/powerpoint/2010/main" val="7769919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14E11-E72E-4CE5-B183-3CAC6DFC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  /  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AB730-9BE8-44B4-B5A1-9EDCEF4B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Design principles in a real campaign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1C805-BB8B-40D9-842C-18C97B72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Recognition can make a small fragment communicate a larger identity.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51d221cb74695"/>
          <a:stretch xmlns:a="http://schemas.openxmlformats.org/drawingml/2006/main"/>
        </p:blipFill>
        <p:spPr>
          <a:xfrm xmlns:a="http://schemas.openxmlformats.org/drawingml/2006/main">
            <a:off x="1579969" y="2143125"/>
            <a:ext cx="4441013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869B9-A4CA-4D87-BF9F-E410006D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The arches become directional cues.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9DA26-A4F1-4F17-AA7E-362BC142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Strong contrast supports the cropped symbol.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EACA7-A763-4EF2-8C50-B7C95EF1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The treatment depends on prior brand recognition.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1E611-18B8-4046-8866-ED1E06F1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CB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7413A-FB7A-4C55-82CD-801BD028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TRY · 2 MIN   Individual check: identify two principles and one audience limitation.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B4A10-11B6-4543-BF68-621E8C6D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10 / 24   ·   Cossette • Follow the Arches, 2018 • © rights holders</a:t>
            </a:r>
          </a:p>
        </p:txBody>
      </p:sp>
    </p:spTree>
    <p:extLst>
      <p:ext uri="{BB962C8B-B14F-4D97-AF65-F5344CB8AC3E}">
        <p14:creationId xmlns:p14="http://schemas.microsoft.com/office/powerpoint/2010/main" val="10438355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55E423-54E3-4701-BB03-CD33A068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  /   UNDERSTAND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437A4-C9F4-4613-8C56-60CA5189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Colour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82692-D4EB-4066-8AE2-C69D1A15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Name the model before naming the relationship.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1D8F1-78C6-4C23-9AB5-8B8A1822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RYB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1D6EC-937D-4877-8341-8D68B047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669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Traditional artist’s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59C82-0357-42CF-924C-E415F81E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638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8B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7A31A-0EAB-4931-B4AD-AC34D090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RGB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291BB-4626-4604-9A8D-44BC4CF8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432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Emitted light; digital storage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75E67-97B9-4D32-BE6A-F54F6ED3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638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8B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15223-64C1-4541-9A88-AC688302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CMYK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C7583-DEC7-41AF-9151-887A7442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195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Process inks; output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9D509-8AA6-42D3-BF0E-064954CD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638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8B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00F74-3863-40A3-A023-979720B4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RYB: a traditional artist’s hue-wheel model.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A51A6-6EE7-4B9F-A416-0052E67B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RGB: light used by screens and digital image files.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F7E5A-7E60-4D44-AF43-64B0644A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CMYK: process inks; output depends on the production workflow.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D5F79E-FEEA-4D6E-AFEE-FE42D35B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CB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E208C-0A02-4B87-86A2-21B332F9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TRY · 2 MIN   Which model does our artist’s wheel use, and which mode is the screen image stored in?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E5A0E-9DA9-4EB0-960C-EF1B6E9D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11 / 24   ·   Adobe • Colour-wheel models</a:t>
            </a:r>
          </a:p>
        </p:txBody>
      </p:sp>
    </p:spTree>
    <p:extLst>
      <p:ext uri="{BB962C8B-B14F-4D97-AF65-F5344CB8AC3E}">
        <p14:creationId xmlns:p14="http://schemas.microsoft.com/office/powerpoint/2010/main" val="15680662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43C29-AB84-4706-9FC9-987C8D72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  /   REMEMBER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5A200-3E63-464F-9BF9-DA059025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The RYB colour wheel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FD728-60EC-41A3-9F09-2FFFF0F9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A schematic hue map for comparing relationships.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723900" y="2152650"/>
          <a:ext xmlns:a="http://schemas.openxmlformats.org/drawingml/2006/main" cx="3762375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ecd99e83d94a8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3D64F-9D69-48A1-9C95-3BE3CEB6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669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R 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BA38B-9316-44C5-A218-CE62348E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051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O orange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8BD77-60E5-4C11-BB21-059AF09E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432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Y yellow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476BC-1A53-476F-922D-A6C84F48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814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G green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C3978-214E-4DE2-B856-8365963C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195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B blue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B9C18-F594-45C4-8249-894369DA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577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V violet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D2548-8CA2-400E-B02D-A3144515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661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Equal sectors; RGB samples illustrate RYB hue families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B0873-B68D-4BEC-A9CF-9B82DE63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Primary families: red, yellow, blue.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47AD5C-DBE0-4404-8F26-B4A3D1E8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Secondary families: orange, green, violet.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75446-9447-4B79-8992-6304EB01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Intermediate families sit between their neighbours.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509192-39A5-4B7A-BE66-A14AADF0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CB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E1D55C-C13F-4459-8EF3-6C3D7C13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TRY · 2 MIN   Find an opposite pair and a neighbouring group. Name the model.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760BA-1BE7-4E4F-BC8A-BB98C83E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12 / 24   ·   Adobe • Colour-wheel models</a:t>
            </a:r>
          </a:p>
        </p:txBody>
      </p:sp>
    </p:spTree>
    <p:extLst>
      <p:ext uri="{BB962C8B-B14F-4D97-AF65-F5344CB8AC3E}">
        <p14:creationId xmlns:p14="http://schemas.microsoft.com/office/powerpoint/2010/main" val="20457178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D1382-0E6C-4D0F-9622-D33326BF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  /   UNDERSTAND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5CA7F-AFAD-4989-BDB6-98EA82B5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Hue, value and saturation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235A8-A453-4EA3-B009-3EEA8623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A useful palette changes more than hue.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19879-3447-4BE9-BBC8-7C27541A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Hue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279BC-B2E3-4974-9C39-50DF11EB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266950"/>
            <a:ext cx="1238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443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5912E2-054F-4447-AA1E-38ED2B96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66950"/>
            <a:ext cx="1238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74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6CD09-133B-4A4E-B89D-9053D8F1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266950"/>
            <a:ext cx="1238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75A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109BD-FDD1-44F6-9AC1-BEAED2A4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Value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67072C-AE43-4A27-9C0C-65E8D739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248025"/>
            <a:ext cx="1238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E5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068BC-91AD-47E6-8794-C43CC5D8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48025"/>
            <a:ext cx="1238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38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34FF3-0EC8-47FF-80AA-088AF417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248025"/>
            <a:ext cx="1238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0D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A00C6-2AC7-42F5-AC29-A8B9DE86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Saturation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A4B06-A163-4614-89E9-C835115B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229100"/>
            <a:ext cx="1238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64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862FF-A4F5-4C3B-A59D-1C9335CD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29100"/>
            <a:ext cx="1238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46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7552F-B23E-42BF-9AE4-A5750F5E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229100"/>
            <a:ext cx="1238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D7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05692-4094-4D56-9600-6F65A5C3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Hue names the colour family.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77C7AC-D891-4C99-ADDB-3957DE58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Value describes lightness or darkness.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A0E2B-1C48-4A18-B527-CA649422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Saturation describes colour intensity.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2AA956-AD79-4A3B-88FA-6722E2DB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CB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2663CE-DA53-4A21-838A-5F5D0B97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TRY · 2 MIN   Keep the hue family and change a property that could improve title visibility.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09C77B-A0E0-495A-BF33-873A2B82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13 / 24   ·   Adobe • Colour-wheel models</a:t>
            </a:r>
          </a:p>
        </p:txBody>
      </p:sp>
    </p:spTree>
    <p:extLst>
      <p:ext uri="{BB962C8B-B14F-4D97-AF65-F5344CB8AC3E}">
        <p14:creationId xmlns:p14="http://schemas.microsoft.com/office/powerpoint/2010/main" val="8156403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5B31E1-911A-4053-8A81-CBEDB178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  /   UNDERSTAND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51E4C-A618-4397-8C1A-4EEA5F30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Palette relationships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9CD36-93D4-44B7-80DF-B6B10ED0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Use harmony as a starting point, then test the design.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1A9ED-F5E3-42C2-997F-3BA74A4F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Complementary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066D8-6BBC-417A-9FDC-649999A5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66950"/>
            <a:ext cx="714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94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14407-3C4F-45FD-B9FA-980EE082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66950"/>
            <a:ext cx="714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916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750A1-9D4B-4C34-BC5C-4615DC16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Analogous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001DB-F6A8-49C3-B88D-814EA980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28950"/>
            <a:ext cx="714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94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BEE8C8-B8D8-4AAB-B656-185AB898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28950"/>
            <a:ext cx="714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743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69EA6-F065-477C-A7D4-85DCBCD8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28950"/>
            <a:ext cx="714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53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092FB-4405-4B21-BAC0-9A73A745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Triadic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DB894-0BDB-4778-A9D8-43C09762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90950"/>
            <a:ext cx="714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94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CE9F07-0D2A-4C13-ACE4-9E0F14DE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790950"/>
            <a:ext cx="714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CE4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540FE-8241-4911-A875-6FA70468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90950"/>
            <a:ext cx="714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CA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E1E4E9-2C31-4E2F-8BBA-9CEEF6FF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Split complementary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ED87F-41C6-40D8-98CE-20FF3843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552950"/>
            <a:ext cx="714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494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2F6792-DCA8-4B7C-9ACA-AEC4A22A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552950"/>
            <a:ext cx="714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904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7CE88-3962-4B0F-A9AB-3B2AFC32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552950"/>
            <a:ext cx="714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918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F6B11A-F9F9-4873-A717-B34DE8BD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15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Complementary: opposite hue families.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F491A2-8AA8-44E3-AED2-4B2BACED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90850"/>
            <a:ext cx="415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Analogous: neighbouring families.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4CAAD-7061-4718-AA37-74FDB3EA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33800"/>
            <a:ext cx="415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Triadic: three families spaced around the named wheel.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578480-B477-432F-90CC-273B8FAA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76750"/>
            <a:ext cx="4152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Split complementary: a base and neighbours of its opposite.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C2C133-8AFA-4612-9656-C5B32F12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CB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2B4DB5-5BD9-4432-8BF5-C4CEAC25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TRY · 2 MIN   Choose two different starting relationships for one story premise. Explain what you would test.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F65F5F-18A1-49FE-8D2E-606FBF00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14 / 24   ·   Adobe • Colour-wheel models</a:t>
            </a:r>
          </a:p>
        </p:txBody>
      </p:sp>
    </p:spTree>
    <p:extLst>
      <p:ext uri="{BB962C8B-B14F-4D97-AF65-F5344CB8AC3E}">
        <p14:creationId xmlns:p14="http://schemas.microsoft.com/office/powerpoint/2010/main" val="11529008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8DE476-6EC6-43DC-9035-6B5F991E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  /   UNDERSTAND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63746-9354-4DC1-B4E2-4FB16AC3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Colour roles and proportions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5DE31-AD34-4123-B9C4-967327C4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Choose what each colour does in the image.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60277-FE3D-4D7D-B656-B2284EFF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19062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84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5691F-B39A-4727-BC14-E743B3E9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Dominant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D4354-73BF-4F52-81C6-74CB1612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#18384F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1059B-EB36-460C-BB82-7A52D2D4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57450"/>
            <a:ext cx="119062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BAB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43A24-6218-4958-A70B-60592DF4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3865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7F0C8-5D6A-46A8-A117-35164CC8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196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#8CBAB8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1FF8E-FEB2-49E2-B8EB-59429809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57450"/>
            <a:ext cx="119062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72D67-0D32-4EB0-B29B-2502CAE4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3865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Accent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FED52-8DE3-4900-9AF2-E1091EC3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196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#F4B860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13E1A-D6B7-460A-814D-B2DB0965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57450"/>
            <a:ext cx="119062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1F841-C36F-4EC5-8DAE-FEFC43B6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3865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Background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E04F6A-0F7E-4AA6-84CB-E7F635BD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196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#F6F0E6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AC5B32-83DF-4EF1-A186-53C6DCF9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57450"/>
            <a:ext cx="119062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8B478-F473-4DA1-A8A9-18096552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3865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8042DE-997D-4C0C-8900-91B7AC6D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1965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#17232B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E958F0-C380-427D-A43E-D1DB3FC1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Dominant and supporting colours establish the treatment.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9B33D0-B28C-4EB7-A5DD-9CC69EF8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An accent directs a limited area of emphasis.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2A296C-FB07-4749-9723-C56C2C1E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Background and text colours need a readability check.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5FC0BD-BE38-4DCB-BC64-934B47C8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CB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57D909-0EF1-447B-9421-D40DF972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TRY · 2 MIN   Give five colours roles. Name which one you would use least and why.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3EEAE9-1AFC-49C6-81CA-0737E53A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15 / 24   ·   Learning Studio • original teaching model; not a real campaign</a:t>
            </a:r>
          </a:p>
        </p:txBody>
      </p:sp>
    </p:spTree>
    <p:extLst>
      <p:ext uri="{BB962C8B-B14F-4D97-AF65-F5344CB8AC3E}">
        <p14:creationId xmlns:p14="http://schemas.microsoft.com/office/powerpoint/2010/main" val="15468869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614B1-05F6-40FC-BBC0-A9597FD2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  /   UNDERSTAND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65AB7-E3CA-4D39-8A91-38D72903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Colour meaning needs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066EC-3906-45A1-87C1-A171DAFA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A colour choice is a claim you must examine.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28d9cbc9643b2"/>
          <a:stretch xmlns:a="http://schemas.openxmlformats.org/drawingml/2006/main"/>
        </p:blipFill>
        <p:spPr>
          <a:xfrm xmlns:a="http://schemas.openxmlformats.org/drawingml/2006/main">
            <a:off x="2752725" y="2143125"/>
            <a:ext cx="2095500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02C16-EEDF-4544-AFD3-1506947A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Film genre, culture and neighbouring colours affect interpretation.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D4DA3-8BA8-47BD-B36E-7EDC7D39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A maker’s intention and a viewer’s response can differ.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69923-065A-41EB-A480-8ED2E5A0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A two-person test gives evidence, not a universal conclusion.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7E1ED-8596-4B04-9C9F-1CFEF8E5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CB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8DE7F-C869-42E4-88F6-0DB87042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TRY · 2 MIN   Separate one visible observation, the documented intention and your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2DEAB-1232-4685-98A2-8C3FC3B8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16 / 24   ·   Pentagram / Justus Oehler • BILLIE, 2026 • © rights holders</a:t>
            </a:r>
          </a:p>
        </p:txBody>
      </p:sp>
    </p:spTree>
    <p:extLst>
      <p:ext uri="{BB962C8B-B14F-4D97-AF65-F5344CB8AC3E}">
        <p14:creationId xmlns:p14="http://schemas.microsoft.com/office/powerpoint/2010/main" val="21182428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F9AEC-A2BC-4E5A-82C2-04B7A9D8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  /   UNDERSTAND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A985B-8063-4575-A04B-428D060D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Create and transfer a palette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2B5D0-77CC-464C-9116-84833EE5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Use Adobe Color, then carry exact colours into production.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99262f5904f6d"/>
          <a:stretch xmlns:a="http://schemas.openxmlformats.org/drawingml/2006/main"/>
        </p:blipFill>
        <p:spPr>
          <a:xfrm xmlns:a="http://schemas.openxmlformats.org/drawingml/2006/main">
            <a:off x="2378529" y="2143125"/>
            <a:ext cx="2843893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EF8EE-B979-430C-9228-89ECED12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Develop two palette candidates for the same brief.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70018-4ACF-4FBA-A2C3-64FEA0EB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Record HEX values and assign colour roles.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BE292-BA4A-4058-AD3C-5E0657E4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In Photoshop, open Window → Swatches and add named colours.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F3D44-0DC2-44F5-98FD-26721118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CB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4817A-BFC8-4C31-BCAE-07AD2780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TRY · 2 MIN   Export or record your five chosen values; apply two to a title/background comparison.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EB396-4A1B-4D01-B492-DFE88955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17 / 24   ·   Adobe Photoshop • Manage swatches</a:t>
            </a:r>
          </a:p>
        </p:txBody>
      </p:sp>
    </p:spTree>
    <p:extLst>
      <p:ext uri="{BB962C8B-B14F-4D97-AF65-F5344CB8AC3E}">
        <p14:creationId xmlns:p14="http://schemas.microsoft.com/office/powerpoint/2010/main" val="154454559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97CDA-EAA2-406B-92FC-5104535F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  /   UNDERSTAND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40C22-320B-408B-A8C7-5DB6838F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Typography has communication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E3DCB-6D0E-41C2-B301-FE87CF50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Choose a voice and a readable information structure.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707e8edad495d"/>
          <a:stretch xmlns:a="http://schemas.openxmlformats.org/drawingml/2006/main"/>
        </p:blipFill>
        <p:spPr>
          <a:xfrm xmlns:a="http://schemas.openxmlformats.org/drawingml/2006/main">
            <a:off x="790980" y="2143125"/>
            <a:ext cx="6018989" cy="3143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D0AEA-0BB7-4C5F-9BEF-835E5226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Typeface: the visual design of the characters.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39F28-25BE-4958-8B4E-599A5CF0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Weight and size distinguish information roles.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F8946-420B-4AF3-B871-AFCF1A32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Hierarchy matters before adding extra typefaces.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43D47-40FD-4E20-9ADA-F7ED7D4B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CB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55C50-532B-42AA-81AD-0FC5302B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TRY · 2 MIN   Choose a title role and a supporting-information role; explain why they differ.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B5F23-A3A9-4C30-AC00-A70BB733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18 / 24   ·   Pentagram / Justus Oehler • BILLIE, 2026 • © rights holders</a:t>
            </a:r>
          </a:p>
        </p:txBody>
      </p:sp>
    </p:spTree>
    <p:extLst>
      <p:ext uri="{BB962C8B-B14F-4D97-AF65-F5344CB8AC3E}">
        <p14:creationId xmlns:p14="http://schemas.microsoft.com/office/powerpoint/2010/main" val="14858611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19ED9-4FD7-4BF8-8DCD-AFECED38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  /   REMEMBER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E6C5F-68DE-48C1-8626-F4578178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Kerning and tracking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0CE5B-B7D3-4A11-97BE-6678EA7F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One pair and a selected run need different controls.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864F1-768E-4E4E-A908-9EF28C14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50507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AV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9800F-28CB-43FA-B942-14BCF898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05075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A 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3995C-DC64-43ED-B611-41A6DE56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48075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Pair: kerning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C8C76-B1BB-4BEB-A37E-0F692D89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20052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FILM NIGHT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12154-4261-4AFD-AC43-C99A0A18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9107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F I L M   N I G H 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140DE-DD5A-4872-9E36-66A622AF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Kerning changes the gap between a character pair.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46101-90AE-4AB4-9F7C-1AABA20F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Tracking changes spacing across a selected range.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49D31-2437-4EE8-A2B0-388B2EA8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Inspect the visible result at the intended size.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6D63B-152A-4369-8F91-13E6D319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CB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66A1A-839A-4582-A9A1-58DEB1D6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TRY · 2 MIN   A gap between A and V is awkward, but the rest of the title is fine. Which control and selection are appropriate?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5E61F-9B87-45A7-B3BE-9E7E098D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19 / 24   ·   Adobe Photoshop • Line and character spacing</a:t>
            </a:r>
          </a:p>
        </p:txBody>
      </p:sp>
    </p:spTree>
    <p:extLst>
      <p:ext uri="{BB962C8B-B14F-4D97-AF65-F5344CB8AC3E}">
        <p14:creationId xmlns:p14="http://schemas.microsoft.com/office/powerpoint/2010/main" val="3531479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93419-A3D5-43EE-8FFC-533392AF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  /   UNDERSTAND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427E5-9AB5-44FA-BA76-BB5E4913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Leading and alignment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7916D-A294-4D68-86BB-387BE2BA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Manage the lines as well as the letters.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426D0-A245-4924-9EF4-AFE4FEF0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A story told</a:t>
            </a:r>
          </a:p>
          <a:p xmlns:a="http://schemas.openxmlformats.org/drawingml/2006/main">
            <a:pPr>
              <a:defRPr sz="3000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in two lines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B2868-8C3B-40BF-8F1C-7DF97984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70AE1-330C-4CE6-A3D5-340888DD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86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D1F2A-D4E5-4450-9DD2-4A0EFD67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Baseline → baseline = leading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C2F43-8884-48F1-88EA-C616D6CA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A shared reading edge</a:t>
            </a:r>
          </a:p>
          <a:p xmlns:a="http://schemas.openxmlformats.org/drawingml/2006/main">
            <a:pPr>
              <a:defRPr sz="22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organises this 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1EB74-9F1C-4AB4-953E-D37CEB99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Leading sets the distance between text baselines.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B8DF5-C570-4EE6-988A-BC7B8DB0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Alignment establishes the shared reading edge.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CAC393-56AF-4E0E-BD3B-48F0830B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Check line breaks and proximity to other information.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A35CD-CB8D-4D99-91E9-1FBD1690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CB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3EF52-97FB-4082-9259-0B9C9A5F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TRY · 2 MIN   Diagnose the cramped two-line message. Name the control and one thing to keep constant.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4DF17-68E6-4D8C-AAE9-2E5BAC8D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20 / 24   ·   Adobe Photoshop • Line and character spacing</a:t>
            </a:r>
          </a:p>
        </p:txBody>
      </p:sp>
    </p:spTree>
    <p:extLst>
      <p:ext uri="{BB962C8B-B14F-4D97-AF65-F5344CB8AC3E}">
        <p14:creationId xmlns:p14="http://schemas.microsoft.com/office/powerpoint/2010/main" val="2664293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C0756-5067-416B-8645-1EAAE94E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  /   UNDERSTAND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3A338-10FF-49B8-8661-16788A80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Typography in Photoshop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68D26F-1328-468C-87AF-1F202D4C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Match the control to the problem you observed.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5dada76354174"/>
          <a:stretch xmlns:a="http://schemas.openxmlformats.org/drawingml/2006/main"/>
        </p:blipFill>
        <p:spPr>
          <a:xfrm xmlns:a="http://schemas.openxmlformats.org/drawingml/2006/main">
            <a:off x="1335881" y="2143125"/>
            <a:ext cx="4929188" cy="21907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bc9f1adf14901"/>
          <a:stretch xmlns:a="http://schemas.openxmlformats.org/drawingml/2006/main"/>
        </p:blipFill>
        <p:spPr>
          <a:xfrm xmlns:a="http://schemas.openxmlformats.org/drawingml/2006/main">
            <a:off x="2289008" y="4429125"/>
            <a:ext cx="3022934" cy="857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98D56-C1C6-470F-B566-7C323E22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Select the Type layer and the relevant 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39B98A-B8A4-4052-B7C3-14A02AF8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Use the Character controls for size, leading, kerning or tracking.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6725D-C5F7-4507-99F1-3F7ADB18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Keep the Type layer editable for the next revision.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7B5D2-5228-43C8-94A1-7BD87B78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CB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A13B7-FED0-4880-830C-8083DA8C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TRY · 2 MIN   Locate one pair control and one range control in the image. Explain when each is useful.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5AF6F-7361-42E6-B3A5-C00ADB1E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21 / 24   ·   Learning Studio • genuine Photoshop 2026 capture of a scripted practice demonstration</a:t>
            </a:r>
          </a:p>
        </p:txBody>
      </p:sp>
    </p:spTree>
    <p:extLst>
      <p:ext uri="{BB962C8B-B14F-4D97-AF65-F5344CB8AC3E}">
        <p14:creationId xmlns:p14="http://schemas.microsoft.com/office/powerpoint/2010/main" val="7386118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B11DB-3609-4FD4-AC2C-63A1C73E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  /   UNDERSTAND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7FE29-10F6-449C-8711-50BC1506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A photographic story cue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FB2E4-A200-473B-8615-34A5AF9E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A24’s film still uses colour, light and placement to suggest a story.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c2f53e34a4f76"/>
          <a:stretch xmlns:a="http://schemas.openxmlformats.org/drawingml/2006/main"/>
        </p:blipFill>
        <p:spPr>
          <a:xfrm xmlns:a="http://schemas.openxmlformats.org/drawingml/2006/main">
            <a:off x="609600" y="2620280"/>
            <a:ext cx="6381750" cy="218894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57C15-5E73-4036-A889-EE9FBB4F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Observe the silhouette, light, colour and position.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74A3B-9A3B-4FDA-9381-FDEE46A5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A24 describes a life moving from childhood to adulthood.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F7A21-1E4A-4E5D-91AF-1DA90414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Explain your interpretation using both form and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F3F13-5C0B-4359-8BDA-07C32334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CB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1A40A5-04BF-4EDF-B3BE-9295CD28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TRY · 2 MIN   Write an observation → contextual connection → interpretation, then name a limit.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329F9-C79A-4775-9F8F-2D6985C1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22 / 24   ·   A24 • Moonlight, 2016 • © rights holders</a:t>
            </a:r>
          </a:p>
        </p:txBody>
      </p:sp>
    </p:spTree>
    <p:extLst>
      <p:ext uri="{BB962C8B-B14F-4D97-AF65-F5344CB8AC3E}">
        <p14:creationId xmlns:p14="http://schemas.microsoft.com/office/powerpoint/2010/main" val="199616178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02BCDB-FFA9-4A8A-B96F-43C9A98A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  /   UNDERSTAND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2CAD4-BC35-44FF-A60A-BA0F191A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Historical and current image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1844E-A95E-49C8-AFE9-CF03F045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Compare decisions and contexts, not which image you prefer.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d712550674977"/>
          <a:stretch xmlns:a="http://schemas.openxmlformats.org/drawingml/2006/main"/>
        </p:blipFill>
        <p:spPr>
          <a:xfrm xmlns:a="http://schemas.openxmlformats.org/drawingml/2006/main">
            <a:off x="1162395" y="2162175"/>
            <a:ext cx="1904309" cy="2905125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6caa99c004e94"/>
          <a:stretch xmlns:a="http://schemas.openxmlformats.org/drawingml/2006/main"/>
        </p:blipFill>
        <p:spPr>
          <a:xfrm xmlns:a="http://schemas.openxmlformats.org/drawingml/2006/main">
            <a:off x="4365625" y="2162175"/>
            <a:ext cx="1936750" cy="29051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4C47C-506A-43E8-8ADF-5038F86E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3028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Saul Bass · 1955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BD635-FDF7-444D-8E6A-EB22D093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435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BILLIE ·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2AA41-294A-4DC4-955B-F063CD5A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Saul Bass: The Man with the Golden Arm, 1955.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03DE6-F4DA-481E-AA5F-142C209B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BILLIE: Pentagram’s promotional identity, 2026.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DEBF2-C24B-4A88-85E9-A4551EDC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Compare form, message, viewing context and possible emotional impact.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2BBC8-F8EB-47EA-9A50-1EE1F66D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CB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3559F-055C-457B-9EDD-3AEAD462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TRY · 2 MIN   Individually write one similarity, one difference and one question about cultural or historical context.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F184C-C2FD-43F9-9DDF-2202FFE6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23 / 24   ·   Saul Bass, 1955 • MoMA • © rights holders</a:t>
            </a:r>
          </a:p>
        </p:txBody>
      </p:sp>
    </p:spTree>
    <p:extLst>
      <p:ext uri="{BB962C8B-B14F-4D97-AF65-F5344CB8AC3E}">
        <p14:creationId xmlns:p14="http://schemas.microsoft.com/office/powerpoint/2010/main" val="69486200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41A59-C0F2-4AE2-8AE5-7D920A79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MULTIMEDIA 12   /   APPLY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4837D-F489-42A4-AEA2-91D6F8B8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Apply and 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E1628-30F2-4636-9088-30D29F3C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Design two treatments before choosing 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1920B-94D1-4CC6-82CE-D56607D0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2C038-D2E0-4E8B-B0E8-EDB43C84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2669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Three distinct alternatives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B7A46-2ECB-4418-B959-08262796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638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8B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1CCC8-BC93-4A11-80EA-30CB4593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CREATE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D9257-A14A-49D6-9895-3DF7F398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432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Two treatments for one direction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DCB8E-4701-4CFA-807A-DBFC9A11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638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8B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8F15E-2742-482D-84A3-7603A962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JUSTIFY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9F5AE-024D-47F8-8F91-9E06B075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195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Audience + purpose +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DE284-632E-4608-A54A-9CAF5DFB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638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8B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60BD2-DE89-41B2-B024-41F46C79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Three distinct thumbnails for your own premise.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E71B8-1A03-4985-A678-DBD036F6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Two colour/type treatments for the selected direction.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01F38-5A6D-4816-911D-0E766849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4152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84F"/>
                </a:solidFill>
                <a:latin typeface="Helvetica Neue"/>
                <a:ea typeface="Helvetica Neue"/>
                <a:cs typeface="Helvetica Neue"/>
              </a:rPr>
              <a:t>Choose using audience, purpose and viewing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91EA7-6315-498A-A1D4-9E544FD5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CB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59DD66-D031-4B74-B615-7D2830EA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6569"/>
                </a:solidFill>
                <a:latin typeface="Helvetica Neue"/>
                <a:ea typeface="Helvetica Neue"/>
                <a:cs typeface="Helvetica Neue"/>
              </a:rPr>
              <a:t>TRY · 8 MIN   Make your first three thumbnail directions. Below them, state the audience and message in one sentence.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3B9C4-F36A-4933-BBB2-092E6145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0717B"/>
                </a:solidFill>
                <a:latin typeface="Helvetica Neue"/>
                <a:ea typeface="Helvetica Neue"/>
                <a:cs typeface="Helvetica Neue"/>
              </a:rPr>
              <a:t>24 / 24   ·   Learning Studio • original teaching model; not a real campaign</a:t>
            </a:r>
          </a:p>
        </p:txBody>
      </p:sp>
    </p:spTree>
    <p:extLst>
      <p:ext uri="{BB962C8B-B14F-4D97-AF65-F5344CB8AC3E}">
        <p14:creationId xmlns:p14="http://schemas.microsoft.com/office/powerpoint/2010/main" val="890513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2026-10-09T10:30:08.7530000Z</dcterms:created>
  <dcterms:modified xsi:type="dcterms:W3CDTF">2026-10-09T10:30:08.7530000Z</dcterms:modified>
</coreProperties>
</file>
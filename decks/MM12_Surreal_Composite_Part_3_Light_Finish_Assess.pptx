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M12_Surreal_Composite_v4_FULL_TEACHING_PACKAGE/assets/exemplar_good_moon_chair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02920"/>
            <a:ext cx="66751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4F5F7"/>
                </a:solidFill>
              </a:rPr>
              <a:t>Light, Finish, Assess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1792" y="2157984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5F7"/>
                </a:solidFill>
              </a:rPr>
              <a:t>Part 3: this is where the composite becomes believable.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6099048"/>
            <a:ext cx="246888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PART 3 — LIGHT + FINISH + ASSESS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8 — Create night / moonlight grade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8_color_lookup_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731030"/>
            <a:ext cx="5440680" cy="37068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Apply a global grade that makes the room feel like a night scene, while masking areas that need separate treatment.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Adjustments &gt; Color Lookup or Curves/Color Balance.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Ctrl/Cmd + I inverts a selected mask.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Background becomes cool/darker while the Moon remains a light source.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The scene must agree with the new story: a Moon is lighting the room.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If the Moon becomes muddy/dim, mask the grade away from it.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9 — Light chair back + supports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09_chair_back_support_mo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760923"/>
            <a:ext cx="5440680" cy="36470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Select the chair back/support fronts and reduce the blue/dark grade or add a local Curves/Color Balance highlight.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Polygonal Lasso Tool &gt; Add to selection &gt; adjustment/mask painting.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L = Lasso tools · G = Paint Bucket/Gradient group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The top/back surfaces facing the Moon become brighter/less blue.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The Moon is a light source, so surfaces facing it must react.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Do not brighten the entire chair equally; use falloff.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10 — Light the seat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10_chair_seat_mo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910393"/>
            <a:ext cx="5440680" cy="3348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Select the seat and gradually brighten/cool-highlight it as though moonlight lands on the top surface.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Polygonal Lasso Tool &gt; local adjustment or low-opacity painting on a mask.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L = Lasso · B = Brush · 1/2/3 keys set brush opacity to 10/20/30%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The seat looks lit from above without losing wood/texture detail.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Top-facing surfaces should receive more light than undersides.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If it looks like white paint, lower opacity or use Curves instead of direct paint.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11 — Add ribbon/rim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11_ribbon_moon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374172"/>
            <a:ext cx="5440680" cy="44205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Restore or paint subtle cool light along thin twisting ribbon/edge details facing the Moon.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Select ribbon &gt; mask/paint local cool tone on the grade or light layer.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Alt/Option-click mask to inspect it.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Small edges catch moonlight while opposite surfaces remain darker.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Tiny local lighting details sell the physics of the composite.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If the ribbon disappears into the background, add a subtle rim highlight.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Step 12 — Add Moon glow + final audit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Every software step includes action, where, hotkey, expected result, why, and checkpoint.</a:t>
            </a:r>
            <a:endParaRPr lang="en-US" sz="1200" dirty="0"/>
          </a:p>
        </p:txBody>
      </p:sp>
      <p:pic>
        <p:nvPicPr>
          <p:cNvPr id="4" name="Image 0" descr="/mnt/data/MM12_Surreal_Composite_v4_FULL_TEACHING_PACKAGE/assets/s12_final_source_compo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5206" y="1298448"/>
            <a:ext cx="3516923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444752"/>
            <a:ext cx="1005840" cy="274320"/>
          </a:xfrm>
          <a:prstGeom prst="rect">
            <a:avLst/>
          </a:prstGeom>
          <a:solidFill>
            <a:srgbClr val="77D4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DO THIS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91640" y="141732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Add glow/rim light only where motivated by the Moon, then audit every visual system.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157984"/>
            <a:ext cx="1005840" cy="274320"/>
          </a:xfrm>
          <a:prstGeom prst="rect">
            <a:avLst/>
          </a:prstGeom>
          <a:solidFill>
            <a:srgbClr val="FFD0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WHERE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2130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Moon layer &gt; Fx &gt; Outer Glow, or a new soft brush layer set to Screen/Soft Light.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2871216"/>
            <a:ext cx="1005840" cy="274320"/>
          </a:xfrm>
          <a:prstGeom prst="rect">
            <a:avLst/>
          </a:prstGeom>
          <a:solidFill>
            <a:srgbClr val="FFAA4A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HOTKEY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91640" y="284378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B = Brush · X swaps foreground/background colours · Ctrl/Cmd+Z undo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4360" y="3584448"/>
            <a:ext cx="1005840" cy="274320"/>
          </a:xfrm>
          <a:prstGeom prst="rect">
            <a:avLst/>
          </a:prstGeom>
          <a:solidFill>
            <a:srgbClr val="9EE37D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SEE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691640" y="355701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Moon appears luminous and its light affects nearby objects.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94360" y="4297680"/>
            <a:ext cx="1005840" cy="274320"/>
          </a:xfrm>
          <a:prstGeom prst="rect">
            <a:avLst/>
          </a:prstGeom>
          <a:solidFill>
            <a:srgbClr val="C59CFF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91640" y="4270248"/>
            <a:ext cx="3886200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Glow is not decoration; it must reinforce the light source.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94360" y="5175504"/>
            <a:ext cx="1005840" cy="274320"/>
          </a:xfrm>
          <a:prstGeom prst="rect">
            <a:avLst/>
          </a:prstGeom>
          <a:solidFill>
            <a:srgbClr val="FF777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</a:rPr>
              <a:t>CHECK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91640" y="5148072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4F5F7"/>
                </a:solidFill>
              </a:rPr>
              <a:t>Hide/show the glow. If the image becomes more believable without it, reduce it.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Where AI fits — and where it does not</a:t>
            </a:r>
            <a:endParaRPr lang="en-US" sz="2800" dirty="0"/>
          </a:p>
        </p:txBody>
      </p:sp>
      <p:pic>
        <p:nvPicPr>
          <p:cNvPr id="3" name="Image 0" descr="/mnt/data/MM12_Surreal_Composite_v4_FULL_TEACHING_PACKAGE/assets/exemplar_good_moon_chair.png">    </p:cNvPr>
          <p:cNvPicPr>
            <a:picLocks noChangeAspect="1"/>
          </p:cNvPicPr>
          <p:nvPr/>
        </p:nvPicPr>
        <p:blipFill>
          <a:blip r:embed="rId1"/>
          <a:srcRect l="20002" r="20002" t="0" b="0"/>
          <a:stretch/>
        </p:blipFill>
        <p:spPr>
          <a:xfrm>
            <a:off x="6492240" y="1097280"/>
            <a:ext cx="5166360" cy="4846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1430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4F5F7"/>
                </a:solidFill>
              </a:rPr>
              <a:t>Harmonize can match subject colour, lighting, shadows and tone, but it may require a pixel layer.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70992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4F5F7"/>
                </a:solidFill>
              </a:rPr>
              <a:t>Prompt to Edit works for whole-image changes; Generative Fill is for selected areas.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227685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4F5F7"/>
                </a:solidFill>
              </a:rPr>
              <a:t>Students still need to inspect geometry, local highlights, masks and physical logic.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Final student submission checklist</a:t>
            </a:r>
            <a:endParaRPr lang="en-US" sz="2800" dirty="0"/>
          </a:p>
        </p:txBody>
      </p:sp>
      <p:pic>
        <p:nvPicPr>
          <p:cNvPr id="3" name="Image 0" descr="/mnt/data/MM12_Surreal_Composite_v4_FULL_TEACHING_PACKAGE/assets/exemplar_good_moon_chair.png">    </p:cNvPr>
          <p:cNvPicPr>
            <a:picLocks noChangeAspect="1"/>
          </p:cNvPicPr>
          <p:nvPr/>
        </p:nvPicPr>
        <p:blipFill>
          <a:blip r:embed="rId1"/>
          <a:srcRect l="20778" r="20778" t="0" b="0"/>
          <a:stretch/>
        </p:blipFill>
        <p:spPr>
          <a:xfrm>
            <a:off x="6583680" y="1143000"/>
            <a:ext cx="493776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173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Layered PSD with named layers/groups.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Final JPG/PNG export.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24231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Asset/source log.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Rough comp screenshot.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Midpoint screenshot with layers panel visible.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Before/after comparison.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Production defence responses.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493776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5F7"/>
                </a:solidFill>
              </a:rPr>
              <a:t>□ AI-use disclosure if applicable.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Questions are graded by evidence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Not everything should be marked the same way.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55448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4F5F7"/>
                </a:solidFill>
              </a:rPr>
              <a:t>Visual diagnosis — 3 pts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F5F7"/>
                </a:solidFill>
              </a:rPr>
              <a:t>1 identify issue · 1 explain why · 1 propose repair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F5F7"/>
                </a:solidFill>
              </a:rPr>
              <a:t>Procedure — 4 pts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F5F7"/>
                </a:solidFill>
              </a:rPr>
              <a:t>Tool/layer · sequence · why · checkpoint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F5F7"/>
                </a:solidFill>
              </a:rPr>
              <a:t>Project — rubric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F5F7"/>
                </a:solidFill>
              </a:rPr>
              <a:t>Product + Observation + Conversation + Transfer + AI transparency</a:t>
            </a:r>
            <a:endParaRPr lang="en-US" sz="2200" dirty="0"/>
          </a:p>
        </p:txBody>
      </p:sp>
      <p:pic>
        <p:nvPicPr>
          <p:cNvPr id="5" name="Image 0" descr="/mnt/data/MM12_Surreal_Composite_v4_FULL_TEACHING_PACKAGE/assets/s12_final_source_compo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0137" y="1325880"/>
            <a:ext cx="3376246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623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5F7"/>
                </a:solidFill>
              </a:rPr>
              <a:t>AI-resistant, not AI-proof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978408"/>
            <a:ext cx="557784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8C1D1"/>
                </a:solidFill>
              </a:rPr>
              <a:t>A final JPEG alone is not acceptable evidence.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4F5F7"/>
                </a:solidFill>
              </a:rPr>
              <a:t>Students must show: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5F7"/>
                </a:solidFill>
              </a:rPr>
              <a:t>• editable PSD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5F7"/>
                </a:solidFill>
              </a:rPr>
              <a:t>• source/asset log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5F7"/>
                </a:solidFill>
              </a:rPr>
              <a:t>• rough comp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5F7"/>
                </a:solidFill>
              </a:rPr>
              <a:t>• midpoint layer screenshot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5F7"/>
                </a:solidFill>
              </a:rPr>
              <a:t>• final export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5F7"/>
                </a:solidFill>
              </a:rPr>
              <a:t>• production defence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4F5F7"/>
                </a:solidFill>
              </a:rPr>
              <a:t>• live teacher challenge</a:t>
            </a:r>
            <a:endParaRPr lang="en-US" sz="2400" dirty="0"/>
          </a:p>
        </p:txBody>
      </p:sp>
      <p:pic>
        <p:nvPicPr>
          <p:cNvPr id="5" name="Image 0" descr="/mnt/data/MM12_Surreal_Composite_v4_FULL_TEACHING_PACKAGE/assets/exemplar_good_moon_chair.png">    </p:cNvPr>
          <p:cNvPicPr>
            <a:picLocks noChangeAspect="1"/>
          </p:cNvPicPr>
          <p:nvPr/>
        </p:nvPicPr>
        <p:blipFill>
          <a:blip r:embed="rId1"/>
          <a:srcRect l="19018" r="19018" t="0" b="0"/>
          <a:stretch/>
        </p:blipFill>
        <p:spPr>
          <a:xfrm>
            <a:off x="6446520" y="1325880"/>
            <a:ext cx="498348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4465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7888"/>
                </a:solidFill>
              </a:rPr>
              <a:t>Part 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Multimedia 12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MM12 Surreal Composite Part 3</dc:title>
  <dc:subject>MM12 Surreal Composite Part 3</dc:subject>
  <dc:creator>OpenAI / MM12 Teaching Studio</dc:creator>
  <cp:lastModifiedBy>OpenAI / MM12 Teaching Studio</cp:lastModifiedBy>
  <cp:revision>1</cp:revision>
  <dcterms:created xsi:type="dcterms:W3CDTF">2026-09-06T18:09:55Z</dcterms:created>
  <dcterms:modified xsi:type="dcterms:W3CDTF">2026-09-06T18:09:55Z</dcterms:modified>
</cp:coreProperties>
</file>
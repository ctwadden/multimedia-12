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M12_Surreal_Composite_v4_FULL_TEACHING_PACKAGE/assets/exemplar_good_moon_chair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02920"/>
            <a:ext cx="667512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4F5F7"/>
                </a:solidFill>
              </a:rPr>
              <a:t>Surreal Composite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1792" y="2157984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F5F7"/>
                </a:solidFill>
              </a:rPr>
              <a:t>Part 1: understand the visual systems before opening Photoshop.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6099048"/>
            <a:ext cx="2468880" cy="274320"/>
          </a:xfrm>
          <a:prstGeom prst="rect">
            <a:avLst/>
          </a:prstGeom>
          <a:solidFill>
            <a:srgbClr val="FFD0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PART 1 — UNDERSTAND + PREPARE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What makes an impossible image believable?</a:t>
            </a:r>
            <a:endParaRPr lang="en-US" sz="2800" dirty="0"/>
          </a:p>
        </p:txBody>
      </p:sp>
      <p:pic>
        <p:nvPicPr>
          <p:cNvPr id="3" name="Image 0" descr="/mnt/data/MM12_Surreal_Composite_v4_FULL_TEACHING_PACKAGE/assets/composite_believability_infographic.png">    </p:cNvPr>
          <p:cNvPicPr>
            <a:picLocks noChangeAspect="1"/>
          </p:cNvPicPr>
          <p:nvPr/>
        </p:nvPicPr>
        <p:blipFill>
          <a:blip r:embed="rId1"/>
          <a:srcRect l="0" r="0" t="14823" b="14823"/>
          <a:stretch/>
        </p:blipFill>
        <p:spPr>
          <a:xfrm>
            <a:off x="6492240" y="1097280"/>
            <a:ext cx="5166360" cy="4846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14300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4F5F7"/>
                </a:solidFill>
              </a:rPr>
              <a:t>Not the number of effects.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170992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4F5F7"/>
                </a:solidFill>
              </a:rPr>
              <a:t>Not just a clean cut-out.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2276856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4F5F7"/>
                </a:solidFill>
              </a:rPr>
              <a:t>The image works when geometry, light, shadow, tone, colour, edges, texture and interaction agree.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Bad vs better composite discussion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9784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1D1"/>
                </a:solidFill>
              </a:rPr>
              <a:t>Ask students: what changed first — light, shadow, colour or interaction?</a:t>
            </a:r>
            <a:endParaRPr lang="en-US" sz="1200" dirty="0"/>
          </a:p>
        </p:txBody>
      </p:sp>
      <p:pic>
        <p:nvPicPr>
          <p:cNvPr id="4" name="Image 0" descr="/mnt/data/MM12_Surreal_Composite_v4_FULL_TEACHING_PACKAGE/assets/exemplar_bad_mismatch_discussion.png">    </p:cNvPr>
          <p:cNvPicPr>
            <a:picLocks noChangeAspect="1"/>
          </p:cNvPicPr>
          <p:nvPr/>
        </p:nvPicPr>
        <p:blipFill>
          <a:blip r:embed="rId1"/>
          <a:srcRect l="8681" r="8681" t="0" b="0"/>
          <a:stretch/>
        </p:blipFill>
        <p:spPr>
          <a:xfrm>
            <a:off x="594360" y="1481328"/>
            <a:ext cx="5303520" cy="3611880"/>
          </a:xfrm>
          <a:prstGeom prst="rect">
            <a:avLst/>
          </a:prstGeom>
        </p:spPr>
      </p:pic>
      <p:pic>
        <p:nvPicPr>
          <p:cNvPr id="5" name="Image 1" descr="/mnt/data/MM12_Surreal_Composite_v4_FULL_TEACHING_PACKAGE/assets/exemplar_good_moon_chair.png">    </p:cNvPr>
          <p:cNvPicPr>
            <a:picLocks noChangeAspect="1"/>
          </p:cNvPicPr>
          <p:nvPr/>
        </p:nvPicPr>
        <p:blipFill>
          <a:blip r:embed="rId2"/>
          <a:srcRect l="8681" r="8681" t="0" b="0"/>
          <a:stretch/>
        </p:blipFill>
        <p:spPr>
          <a:xfrm>
            <a:off x="6309360" y="1481328"/>
            <a:ext cx="5303520" cy="36118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360" y="5257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04A"/>
                </a:solidFill>
              </a:rPr>
              <a:t>Discussion image: identify the mismatches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309360" y="5257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7D4FF"/>
                </a:solidFill>
              </a:rPr>
              <a:t>Target feeling: light and shadow agree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1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Real-world examples students should see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9784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1D1"/>
                </a:solidFill>
              </a:rPr>
              <a:t>Use these to prove compositing is a professional practice, not a school worksheet.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04A"/>
                </a:solidFill>
              </a:rPr>
              <a:t>Adobe / Temi Coker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46504"/>
            <a:ext cx="896112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5F7"/>
                </a:solidFill>
              </a:rPr>
              <a:t>Photo composite tutorial with sample images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1D1"/>
                </a:solidFill>
              </a:rPr>
              <a:t>Link status: VERIFIED LIVE · photoshop.composite-photo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04A"/>
                </a:solidFill>
              </a:rPr>
              <a:t>Adobe MAX / Ted Chin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06624"/>
            <a:ext cx="896112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5F7"/>
                </a:solidFill>
              </a:rPr>
              <a:t>Storytelling, lighting, perspective, colour, generative 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035808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1D1"/>
                </a:solidFill>
              </a:rPr>
              <a:t>Link status: VERIFIED LIVE · MAX S6310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04A"/>
                </a:solidFill>
              </a:rPr>
              <a:t>Adobe Learn / Jesús Ramirez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666744"/>
            <a:ext cx="896112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5F7"/>
                </a:solidFill>
              </a:rPr>
              <a:t>Generate Image object + traditional compositing tools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995928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1D1"/>
                </a:solidFill>
              </a:rPr>
              <a:t>Link status: VERIFIED LIVE · Generate objects for a composite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04A"/>
                </a:solidFill>
              </a:rPr>
              <a:t>Behance / Adobe EXPRESSIVE 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626864"/>
            <a:ext cx="896112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5F7"/>
                </a:solidFill>
              </a:rPr>
              <a:t>Client/campaign-style surreal composite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956048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1D1"/>
                </a:solidFill>
              </a:rPr>
              <a:t>Link status: VERIFIED LIVE · Adobe Black Friday campaign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1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Asset setup before Step 1</a:t>
            </a:r>
            <a:endParaRPr lang="en-US" sz="2800" dirty="0"/>
          </a:p>
        </p:txBody>
      </p:sp>
      <p:pic>
        <p:nvPicPr>
          <p:cNvPr id="3" name="Image 0" descr="/mnt/data/MM12_Surreal_Composite_v4_FULL_TEACHING_PACKAGE/assets/s01_asset_concept_page.png">    </p:cNvPr>
          <p:cNvPicPr>
            <a:picLocks noChangeAspect="1"/>
          </p:cNvPicPr>
          <p:nvPr/>
        </p:nvPicPr>
        <p:blipFill>
          <a:blip r:embed="rId1"/>
          <a:srcRect l="20330" r="20330" t="0" b="0"/>
          <a:stretch/>
        </p:blipFill>
        <p:spPr>
          <a:xfrm>
            <a:off x="6583680" y="1143000"/>
            <a:ext cx="4937760" cy="4754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1732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Create: 01_assets, 02_working, 03_exports, 04_evidence.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Download/copy Balloon.jpg, Moon.jpg and Seat.psd if using the exact book exercise.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42316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If assets are unavailable, use your own background + subject + replacement object.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Do not begin until all required assets are visible in 01_assets.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Take a screenshot of the folder for evidence.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1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Source compatibility gate</a:t>
            </a:r>
            <a:endParaRPr lang="en-US" sz="2800" dirty="0"/>
          </a:p>
        </p:txBody>
      </p:sp>
      <p:pic>
        <p:nvPicPr>
          <p:cNvPr id="3" name="Image 0" descr="/mnt/data/MM12_Surreal_Composite_v4_FULL_TEACHING_PACKAGE/assets/s02_source_compatibility.png">    </p:cNvPr>
          <p:cNvPicPr>
            <a:picLocks noChangeAspect="1"/>
          </p:cNvPicPr>
          <p:nvPr/>
        </p:nvPicPr>
        <p:blipFill>
          <a:blip r:embed="rId1"/>
          <a:srcRect l="1224" r="1224" t="0" b="0"/>
          <a:stretch/>
        </p:blipFill>
        <p:spPr>
          <a:xfrm>
            <a:off x="6583680" y="1143000"/>
            <a:ext cx="4937760" cy="4754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1732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Can you identify the dominant light direction?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Do the camera angles match?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42316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Is the resolution high enough?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Will the subject physically touch or affect the environment?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Can you predict cast shadow direction?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393192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What is the largest colour or tone mismatch?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1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Simulator: make the composite believable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9784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1D1"/>
                </a:solidFill>
              </a:rPr>
              <a:t>Students manipulate cue consistency before Photoshop.</a:t>
            </a:r>
            <a:endParaRPr lang="en-US" sz="1200" dirty="0"/>
          </a:p>
        </p:txBody>
      </p:sp>
      <p:pic>
        <p:nvPicPr>
          <p:cNvPr id="4" name="Image 0" descr="/mnt/data/MM12_Surreal_Composite_v4_FULL_TEACHING_PACKAGE/assets/composite_believability_infograph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2335" y="1234440"/>
            <a:ext cx="3463290" cy="4617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54480"/>
            <a:ext cx="525780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4F5F7"/>
                </a:solidFill>
              </a:rPr>
              <a:t>Open: student/composite_believability_simulator.html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5F7"/>
                </a:solidFill>
              </a:rPr>
              <a:t>Manipulate: exposure, warm/cool, saturation, shadow direction, shadow softness, shadow opacity, environmental glow.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5F7"/>
                </a:solidFill>
              </a:rPr>
              <a:t>Answer: Which cue made the image feel fake fastest? Why?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1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Step 1 — Rough comp first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9784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1D1"/>
                </a:solidFill>
              </a:rPr>
              <a:t>Every software step includes action, where, hotkey, expected result, why, and checkpoint.</a:t>
            </a:r>
            <a:endParaRPr lang="en-US" sz="1200" dirty="0"/>
          </a:p>
        </p:txBody>
      </p:sp>
      <p:pic>
        <p:nvPicPr>
          <p:cNvPr id="4" name="Image 0" descr="/mnt/data/MM12_Surreal_Composite_v4_FULL_TEACHING_PACKAGE/assets/s02_source_compati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0184" y="1298448"/>
            <a:ext cx="4866968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444752"/>
            <a:ext cx="1005840" cy="274320"/>
          </a:xfrm>
          <a:prstGeom prst="rect">
            <a:avLst/>
          </a:prstGeom>
          <a:solidFill>
            <a:srgbClr val="77D4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DO THIS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691640" y="14173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Place the Moon/subject roughly into the background before detailed masking.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94360" y="2157984"/>
            <a:ext cx="1005840" cy="274320"/>
          </a:xfrm>
          <a:prstGeom prst="rect">
            <a:avLst/>
          </a:prstGeom>
          <a:solidFill>
            <a:srgbClr val="FFD0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WHERE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91640" y="2130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File &gt; Place Embedded or drag the image into the document.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94360" y="2871216"/>
            <a:ext cx="1005840" cy="274320"/>
          </a:xfrm>
          <a:prstGeom prst="rect">
            <a:avLst/>
          </a:prstGeom>
          <a:solidFill>
            <a:srgbClr val="FFAA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HOTKEY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691640" y="284378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V = Move Tool · Ctrl/Cmd + T = Free Transform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94360" y="3584448"/>
            <a:ext cx="1005840" cy="274320"/>
          </a:xfrm>
          <a:prstGeom prst="rect">
            <a:avLst/>
          </a:prstGeom>
          <a:solidFill>
            <a:srgbClr val="9EE37D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SEE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691640" y="355701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Subject appears above the background as a separate layer.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94360" y="4297680"/>
            <a:ext cx="1005840" cy="274320"/>
          </a:xfrm>
          <a:prstGeom prst="rect">
            <a:avLst/>
          </a:prstGeom>
          <a:solidFill>
            <a:srgbClr val="C59C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691640" y="4270248"/>
            <a:ext cx="3886200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This tells you whether the images are compatible before you waste time on edges.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94360" y="5175504"/>
            <a:ext cx="1005840" cy="274320"/>
          </a:xfrm>
          <a:prstGeom prst="rect">
            <a:avLst/>
          </a:prstGeom>
          <a:solidFill>
            <a:srgbClr val="FF777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CHECK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691640" y="514807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If light direction or perspective does not match, choose new assets or change the concept.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Multimedia 12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MM12 Surreal Composite Part 1</dc:title>
  <dc:subject>MM12 Surreal Composite Part 1</dc:subject>
  <dc:creator>OpenAI / MM12 Teaching Studio</dc:creator>
  <cp:lastModifiedBy>OpenAI / MM12 Teaching Studio</cp:lastModifiedBy>
  <cp:revision>1</cp:revision>
  <dcterms:created xsi:type="dcterms:W3CDTF">2026-09-06T18:09:54Z</dcterms:created>
  <dcterms:modified xsi:type="dcterms:W3CDTF">2026-09-06T18:09:54Z</dcterms:modified>
</cp:coreProperties>
</file>